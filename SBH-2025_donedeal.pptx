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61" r:id="rId4"/>
    <p:sldId id="264" r:id="rId5"/>
    <p:sldId id="259" r:id="rId6"/>
    <p:sldId id="265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2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ä¸­åº¦æ ·å¼ 2 - å¼ºè°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ä¸­åº¦æ ·å¼ 2 - å¼ºè°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0A61535-BAC9-4BBA-AF83-564DBE980441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FED7317-3D1C-486B-975E-59BD7AC6EE1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11.jpg"/><Relationship Id="rId15" Type="http://schemas.openxmlformats.org/officeDocument/2006/relationships/image" Target="../media/image21.png"/><Relationship Id="rId10" Type="http://schemas.openxmlformats.org/officeDocument/2006/relationships/image" Target="../media/image16.jpg"/><Relationship Id="rId4" Type="http://schemas.openxmlformats.org/officeDocument/2006/relationships/image" Target="../media/image10.jpeg"/><Relationship Id="rId9" Type="http://schemas.openxmlformats.org/officeDocument/2006/relationships/image" Target="../media/image15.png"/><Relationship Id="rId14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7032" y="3727173"/>
            <a:ext cx="7469698" cy="16312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mentor platform for personalized career guidance and professional development.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79092" y="1388164"/>
            <a:ext cx="8262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Bengal Hackthon (SBH-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)-2025</a:t>
            </a:r>
            <a:endParaRPr lang="en-IN"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63366" y="5325189"/>
            <a:ext cx="6285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Category: Software</a:t>
            </a:r>
            <a:endParaRPr lang="en-IN"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72755" y="2050030"/>
            <a:ext cx="5266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EncryptedOmega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3699" y="2652377"/>
            <a:ext cx="474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 No. : SBHRCCIIT020</a:t>
            </a:r>
            <a:endParaRPr lang="en-IN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095" y="123829"/>
            <a:ext cx="1028700" cy="1266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09621" y="3189775"/>
            <a:ext cx="474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Area/Theme: AI/ML and NLP</a:t>
            </a:r>
            <a:endParaRPr lang="en-IN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6690" y="655188"/>
            <a:ext cx="105810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Empower individuals with AI-driven career guidance, job recommendations, and resume enhancement to bridge the gap between skills and market demands.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Provide personalized insights, interview coaching, and networking opportunities to help users make informed career decisions and achieve professional growth.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690" y="2258329"/>
            <a:ext cx="898698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Societal Benefit: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Bridging the Employment Gap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Enhancing Career Readiness</a:t>
            </a:r>
          </a:p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Community: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Students &amp; Fresh Graduates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Job Seekers &amp; Professionals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Career Switchers &amp; Freelancers</a:t>
            </a:r>
            <a:endParaRPr lang="en-IN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6690" y="4622579"/>
            <a:ext cx="89869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Application Areas: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Educational Institutions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Corporate HR &amp; Recruitment 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Upskilling &amp; Reskilling Platforms </a:t>
            </a:r>
            <a:endParaRPr lang="en-IN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6289" y="881052"/>
            <a:ext cx="1040014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Market/Literature Survey :</a:t>
            </a:r>
          </a:p>
          <a:p>
            <a:r>
              <a:rPr lang="en-US" sz="2000" b="1" dirty="0"/>
              <a:t>Technology Trends in Career Guidance :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Competitor Analysis :</a:t>
            </a:r>
            <a:endParaRPr lang="en-US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/>
          </a:p>
          <a:p>
            <a:r>
              <a:rPr lang="en-US" sz="2000" b="1" dirty="0"/>
              <a:t>Market Need &amp; Differentiation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platforms lack personalized AI-driven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unified platform integrating resume enhancement, job search, and networking.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Our AI-powered solution offers end-to-end career support at free of cost.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9CC3B7-9D75-48A9-2766-0A135D7C3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563857"/>
              </p:ext>
            </p:extLst>
          </p:nvPr>
        </p:nvGraphicFramePr>
        <p:xfrm>
          <a:off x="767457" y="2983308"/>
          <a:ext cx="10467018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89006">
                  <a:extLst>
                    <a:ext uri="{9D8B030D-6E8A-4147-A177-3AD203B41FA5}">
                      <a16:colId xmlns:a16="http://schemas.microsoft.com/office/drawing/2014/main" val="669639737"/>
                    </a:ext>
                  </a:extLst>
                </a:gridCol>
                <a:gridCol w="3489006">
                  <a:extLst>
                    <a:ext uri="{9D8B030D-6E8A-4147-A177-3AD203B41FA5}">
                      <a16:colId xmlns:a16="http://schemas.microsoft.com/office/drawing/2014/main" val="2820708547"/>
                    </a:ext>
                  </a:extLst>
                </a:gridCol>
                <a:gridCol w="3489006">
                  <a:extLst>
                    <a:ext uri="{9D8B030D-6E8A-4147-A177-3AD203B41FA5}">
                      <a16:colId xmlns:a16="http://schemas.microsoft.com/office/drawing/2014/main" val="2194786990"/>
                    </a:ext>
                  </a:extLst>
                </a:gridCol>
              </a:tblGrid>
              <a:tr h="262603">
                <a:tc>
                  <a:txBody>
                    <a:bodyPr/>
                    <a:lstStyle/>
                    <a:p>
                      <a:r>
                        <a:rPr lang="en-US" sz="1400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Key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559073"/>
                  </a:ext>
                </a:extLst>
              </a:tr>
              <a:tr h="262603">
                <a:tc>
                  <a:txBody>
                    <a:bodyPr/>
                    <a:lstStyle/>
                    <a:p>
                      <a:r>
                        <a:rPr lang="en-US" sz="1400" dirty="0"/>
                        <a:t>LinkedIn Career Explorer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Job suggestions, skill gap analysis, networking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Free/Premium($29.99/month)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880239"/>
                  </a:ext>
                </a:extLst>
              </a:tr>
              <a:tr h="262603">
                <a:tc>
                  <a:txBody>
                    <a:bodyPr/>
                    <a:lstStyle/>
                    <a:p>
                      <a:r>
                        <a:rPr lang="en-US" sz="1400" dirty="0"/>
                        <a:t>Glassdoor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 insights, company reviews, job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248894"/>
                  </a:ext>
                </a:extLst>
              </a:tr>
              <a:tr h="262603">
                <a:tc>
                  <a:txBody>
                    <a:bodyPr/>
                    <a:lstStyle/>
                    <a:p>
                      <a:r>
                        <a:rPr lang="en-US" sz="1400" dirty="0" err="1"/>
                        <a:t>VMock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Resume feedback, career coaching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University Subscription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98135"/>
                  </a:ext>
                </a:extLst>
              </a:tr>
            </a:tbl>
          </a:graphicData>
        </a:graphic>
      </p:graphicFrame>
      <p:pic>
        <p:nvPicPr>
          <p:cNvPr id="36" name="Picture 35">
            <a:extLst>
              <a:ext uri="{FF2B5EF4-FFF2-40B4-BE49-F238E27FC236}">
                <a16:creationId xmlns:a16="http://schemas.microsoft.com/office/drawing/2014/main" id="{7D9B45C2-B91A-CF4B-B952-41704C0CF1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0" t="27832" r="21759" b="28976"/>
          <a:stretch/>
        </p:blipFill>
        <p:spPr>
          <a:xfrm>
            <a:off x="766348" y="1665233"/>
            <a:ext cx="995728" cy="38941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A07445A-8619-2E98-6A96-32D06620B6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627" y="1686169"/>
            <a:ext cx="753873" cy="37693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B101FD-3A6E-689C-E93E-076242E1E5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2" t="8509" r="8705" b="9197"/>
          <a:stretch/>
        </p:blipFill>
        <p:spPr>
          <a:xfrm>
            <a:off x="2512697" y="1659951"/>
            <a:ext cx="832062" cy="40851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9D3CC93-438D-1A08-C093-A3190905E3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4" t="14478" r="14248" b="17256"/>
          <a:stretch/>
        </p:blipFill>
        <p:spPr>
          <a:xfrm>
            <a:off x="3358587" y="1674577"/>
            <a:ext cx="410672" cy="40011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57C15A0-36DD-8DF3-AA4A-AFA843709F9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249" y="1674577"/>
            <a:ext cx="442214" cy="44221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CCB138C-27B0-6BA9-9672-9A2D93C9FEE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531" y="1626748"/>
            <a:ext cx="535125" cy="53512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DF30BB0-4DA1-3646-0B8C-DD19C1AFB48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2"/>
          <a:stretch/>
        </p:blipFill>
        <p:spPr>
          <a:xfrm>
            <a:off x="4679482" y="1663766"/>
            <a:ext cx="808912" cy="43622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3FAA27E-FBA7-300C-D18B-DA7D3316502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591" y="1670172"/>
            <a:ext cx="483183" cy="42252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366276D-054A-5146-62ED-A2BAB13EC7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6" t="30683" r="21779" b="36225"/>
          <a:stretch/>
        </p:blipFill>
        <p:spPr>
          <a:xfrm>
            <a:off x="6000966" y="1677470"/>
            <a:ext cx="1352198" cy="42252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0E3F421-5CBD-EDFB-C58E-C6ECABE4572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7" t="38248" r="24728" b="36433"/>
          <a:stretch/>
        </p:blipFill>
        <p:spPr>
          <a:xfrm>
            <a:off x="7347953" y="1747569"/>
            <a:ext cx="1110634" cy="29622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0C3A60D-12AE-253F-FEBE-C1A98A64C5A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1" t="6288" r="6657" b="2625"/>
          <a:stretch/>
        </p:blipFill>
        <p:spPr>
          <a:xfrm>
            <a:off x="8458587" y="1605564"/>
            <a:ext cx="502591" cy="5509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1E2243-191B-F4A1-4A8B-6CD13040D5C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0" t="34937" r="9808" b="31871"/>
          <a:stretch/>
        </p:blipFill>
        <p:spPr>
          <a:xfrm>
            <a:off x="8961178" y="1711827"/>
            <a:ext cx="902435" cy="296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E40144-EC17-3812-CAF6-0679969B871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761" y="1609869"/>
            <a:ext cx="340053" cy="4362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5DD6A3-1F79-6C6B-55ED-6089F4C6F1DD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4" t="32287" r="6860" b="27828"/>
          <a:stretch/>
        </p:blipFill>
        <p:spPr>
          <a:xfrm>
            <a:off x="10215814" y="1640748"/>
            <a:ext cx="1078834" cy="3744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EF9F73-D06E-FF58-54DD-92EA7FAF419F}"/>
              </a:ext>
            </a:extLst>
          </p:cNvPr>
          <p:cNvSpPr txBox="1"/>
          <p:nvPr/>
        </p:nvSpPr>
        <p:spPr>
          <a:xfrm>
            <a:off x="859172" y="1631469"/>
            <a:ext cx="1047365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(comparative study between proposal &amp; survey):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End-to-End AI-Powered Career Assistance</a:t>
            </a:r>
            <a:r>
              <a:rPr lang="en-US" sz="2000" dirty="0"/>
              <a:t> → Unlike traditional job portals, our platform integrates </a:t>
            </a:r>
            <a:r>
              <a:rPr lang="en-US" sz="2000" b="1" dirty="0"/>
              <a:t>AI-driven career guidance, resume enhancement, job recommendations, and networking opportunities</a:t>
            </a:r>
            <a:r>
              <a:rPr lang="en-US" sz="2000" dirty="0"/>
              <a:t> in a single ecosystem.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Real-Time Job Market Insights</a:t>
            </a:r>
            <a:r>
              <a:rPr lang="en-US" sz="2000" dirty="0"/>
              <a:t> → While existing platforms rely on static databases, our solution uses </a:t>
            </a:r>
            <a:r>
              <a:rPr lang="en-US" sz="2000" b="1" dirty="0"/>
              <a:t>Google Search API and web scraping</a:t>
            </a:r>
            <a:r>
              <a:rPr lang="en-US" sz="2000" dirty="0"/>
              <a:t> to fetch the latest job openings and industry trends dynamically.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Personalized AI Mentor &amp; Skill Development</a:t>
            </a:r>
            <a:r>
              <a:rPr lang="en-US" sz="2000" dirty="0"/>
              <a:t> → Unlike platforms that only provide job listings, our </a:t>
            </a:r>
            <a:r>
              <a:rPr lang="en-US" sz="2000" b="1" dirty="0"/>
              <a:t>AI mentor analyzes strengths, suggests skill-building exercises, and offers interview coaching</a:t>
            </a:r>
            <a:r>
              <a:rPr lang="en-US" sz="2000" dirty="0"/>
              <a:t> for continuous career growth.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5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5944" y="827809"/>
            <a:ext cx="8986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Architecture/Block diagram (in brief):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26AD4-51A7-3C31-9265-C5F60E764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191" y="1442906"/>
            <a:ext cx="8075617" cy="43538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5DB87B-244D-FCF5-9A5F-D5A72C7C9F75}"/>
              </a:ext>
            </a:extLst>
          </p:cNvPr>
          <p:cNvSpPr txBox="1"/>
          <p:nvPr/>
        </p:nvSpPr>
        <p:spPr>
          <a:xfrm>
            <a:off x="926982" y="905578"/>
            <a:ext cx="74368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diagram/ Signal flow diagram:</a:t>
            </a:r>
          </a:p>
          <a:p>
            <a:endParaRPr lang="en-US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6C74A-E768-5517-5A43-858A9ACF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413" y="1470438"/>
            <a:ext cx="5201174" cy="466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56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5001" y="711137"/>
            <a:ext cx="1037530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used (whether open source, mention):</a:t>
            </a:r>
          </a:p>
          <a:p>
            <a:endParaRPr lang="en-US" sz="1050" b="1" dirty="0"/>
          </a:p>
          <a:p>
            <a:r>
              <a:rPr lang="en-US" sz="2000" b="1" dirty="0"/>
              <a:t>Programming &amp; Development: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sng" dirty="0">
                <a:cs typeface="Times New Roman" panose="02020603050405020304" pitchFamily="18" charset="0"/>
              </a:rPr>
              <a:t>Python (Open Source)</a:t>
            </a:r>
            <a:r>
              <a:rPr lang="en-US" dirty="0">
                <a:cs typeface="Times New Roman" panose="02020603050405020304" pitchFamily="18" charset="0"/>
              </a:rPr>
              <a:t> - </a:t>
            </a:r>
            <a:r>
              <a:rPr lang="en-US" dirty="0"/>
              <a:t>Backend logic and AI processing</a:t>
            </a:r>
            <a:endParaRPr lang="en-US" dirty="0"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sng" dirty="0" err="1">
                <a:cs typeface="Times New Roman" panose="02020603050405020304" pitchFamily="18" charset="0"/>
              </a:rPr>
              <a:t>Streamlit</a:t>
            </a:r>
            <a:r>
              <a:rPr lang="en-US" u="sng" dirty="0">
                <a:cs typeface="Times New Roman" panose="02020603050405020304" pitchFamily="18" charset="0"/>
              </a:rPr>
              <a:t> (Open Source) </a:t>
            </a:r>
            <a:r>
              <a:rPr lang="en-US" dirty="0">
                <a:cs typeface="Times New Roman" panose="02020603050405020304" pitchFamily="18" charset="0"/>
              </a:rPr>
              <a:t>- </a:t>
            </a:r>
            <a:r>
              <a:rPr lang="en-US" dirty="0"/>
              <a:t>Web-based UI for job recommendations</a:t>
            </a:r>
            <a:endParaRPr lang="en-US" dirty="0"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sng" dirty="0" err="1"/>
              <a:t>pdfplumber</a:t>
            </a:r>
            <a:r>
              <a:rPr lang="en-US" u="sng" dirty="0"/>
              <a:t> (Open Source) </a:t>
            </a:r>
            <a:r>
              <a:rPr lang="en-US" dirty="0"/>
              <a:t>- Extracting text from PDFs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sng" dirty="0"/>
              <a:t>Python-docx (Open Source) </a:t>
            </a:r>
            <a:r>
              <a:rPr lang="en-US" dirty="0"/>
              <a:t>- Handling DOCX resume files</a:t>
            </a:r>
          </a:p>
          <a:p>
            <a:endParaRPr lang="en-US" sz="1050" dirty="0"/>
          </a:p>
          <a:p>
            <a:r>
              <a:rPr lang="en-US" sz="2000" b="1" dirty="0"/>
              <a:t>Artificial Intelligence &amp; Machine Learning: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/>
              <a:t>Mistral AI </a:t>
            </a:r>
            <a:r>
              <a:rPr lang="en-US" dirty="0"/>
              <a:t>- AI-based resume analysis and job matching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/>
              <a:t>Google API  </a:t>
            </a:r>
            <a:r>
              <a:rPr lang="en-US" dirty="0"/>
              <a:t>- Fetching job listings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/>
              <a:t>Google Search Engine</a:t>
            </a:r>
            <a:r>
              <a:rPr lang="en-US" dirty="0"/>
              <a:t> – Feasible search operation</a:t>
            </a:r>
            <a:endParaRPr lang="en-US" u="sng" dirty="0"/>
          </a:p>
          <a:p>
            <a:endParaRPr lang="en-US" sz="1050" dirty="0"/>
          </a:p>
          <a:p>
            <a:r>
              <a:rPr lang="en-US" sz="2000" b="1" dirty="0"/>
              <a:t>Database &amp; Storage: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 err="1"/>
              <a:t>Streamlit's</a:t>
            </a:r>
            <a:r>
              <a:rPr lang="en-US" u="sng" dirty="0"/>
              <a:t> inbuilt features </a:t>
            </a:r>
          </a:p>
          <a:p>
            <a:endParaRPr lang="en-US" sz="1050" dirty="0"/>
          </a:p>
          <a:p>
            <a:r>
              <a:rPr lang="en-US" sz="2000" b="1" dirty="0"/>
              <a:t>Deployment &amp; Hosting (Planned not </a:t>
            </a:r>
            <a:r>
              <a:rPr lang="en-US" sz="2000" b="1" dirty="0" err="1"/>
              <a:t>Excuted</a:t>
            </a:r>
            <a:r>
              <a:rPr lang="en-US" sz="2000" b="1" dirty="0"/>
              <a:t> yet):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/>
              <a:t>Render (Cloud-based 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/>
              <a:t>GitHub (Open Source)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316" y="862972"/>
            <a:ext cx="1033237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(</a:t>
            </a:r>
            <a:r>
              <a:rPr lang="en-US" sz="2800" b="1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 keywords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endParaRPr lang="en-US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AI-Based Resume Analysis</a:t>
            </a:r>
            <a:r>
              <a:rPr lang="en-US" sz="2000" dirty="0"/>
              <a:t> – Extracts key skills, experiences, and strengths from resumes.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Automated Resume Rating &amp; Suggestions</a:t>
            </a:r>
            <a:r>
              <a:rPr lang="en-US" sz="2000" dirty="0"/>
              <a:t> – Provides improvement tips for a stronger resume.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Job Matching with AI</a:t>
            </a:r>
            <a:r>
              <a:rPr lang="en-US" sz="2000" dirty="0"/>
              <a:t> – Matches user skills with </a:t>
            </a:r>
            <a:r>
              <a:rPr lang="en-US" sz="2000" b="1" dirty="0"/>
              <a:t>real-time job listings</a:t>
            </a:r>
            <a:r>
              <a:rPr lang="en-US" sz="2000" dirty="0"/>
              <a:t> using </a:t>
            </a:r>
            <a:r>
              <a:rPr lang="en-US" sz="2000" b="1" dirty="0"/>
              <a:t>Mistral AI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Alternative Career Recommendations</a:t>
            </a:r>
            <a:r>
              <a:rPr lang="en-US" sz="2000" dirty="0"/>
              <a:t> – Suggests </a:t>
            </a:r>
            <a:r>
              <a:rPr lang="en-US" sz="2000" b="1" dirty="0"/>
              <a:t>career paths</a:t>
            </a:r>
            <a:r>
              <a:rPr lang="en-US" sz="2000" dirty="0"/>
              <a:t> based on skills and interests.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Personalized Job Recommendations</a:t>
            </a:r>
            <a:r>
              <a:rPr lang="en-US" sz="2000" dirty="0"/>
              <a:t> – Fetches jobs from </a:t>
            </a:r>
            <a:r>
              <a:rPr lang="en-US" sz="2000" b="1" dirty="0"/>
              <a:t>Google API</a:t>
            </a:r>
            <a:r>
              <a:rPr lang="en-US" sz="2000" dirty="0"/>
              <a:t> tailored to user profiles.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Networking Insights</a:t>
            </a:r>
            <a:r>
              <a:rPr lang="en-US" sz="2000" dirty="0"/>
              <a:t> – Provides suggestions for </a:t>
            </a:r>
            <a:r>
              <a:rPr lang="en-US" sz="2000" b="1" dirty="0"/>
              <a:t>LinkedIn connections</a:t>
            </a:r>
            <a:r>
              <a:rPr lang="en-US" sz="2000" dirty="0"/>
              <a:t> and </a:t>
            </a:r>
            <a:r>
              <a:rPr lang="en-US" sz="2000" b="1" dirty="0"/>
              <a:t>industry contacts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Interactive User Interface</a:t>
            </a:r>
            <a:r>
              <a:rPr lang="en-US" sz="2000" dirty="0"/>
              <a:t> – Simple and </a:t>
            </a:r>
            <a:r>
              <a:rPr lang="en-US" sz="2000" b="1" dirty="0"/>
              <a:t>user-friendly dashboard</a:t>
            </a:r>
            <a:r>
              <a:rPr lang="en-US" sz="2000" dirty="0"/>
              <a:t> built with </a:t>
            </a:r>
            <a:r>
              <a:rPr lang="en-US" sz="2000" b="1" dirty="0" err="1"/>
              <a:t>Streamlit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Data Storage</a:t>
            </a:r>
            <a:r>
              <a:rPr lang="en-US" sz="2000" dirty="0"/>
              <a:t> – Handled by </a:t>
            </a:r>
            <a:r>
              <a:rPr lang="en-US" sz="2000" b="1" dirty="0" err="1"/>
              <a:t>Streamlit's</a:t>
            </a:r>
            <a:r>
              <a:rPr lang="en-US" sz="2000" b="1" dirty="0"/>
              <a:t> inbuilt features</a:t>
            </a:r>
            <a:r>
              <a:rPr lang="en-US" sz="2000" dirty="0"/>
              <a:t> for smooth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Cloud Deployment</a:t>
            </a:r>
            <a:r>
              <a:rPr lang="en-US" sz="2000" dirty="0"/>
              <a:t> – Hosted on </a:t>
            </a:r>
            <a:r>
              <a:rPr lang="en-US" sz="2000" b="1" dirty="0"/>
              <a:t>Render</a:t>
            </a:r>
            <a:r>
              <a:rPr lang="en-US" sz="2000" dirty="0"/>
              <a:t> for seamless access and updates.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🚀 </a:t>
            </a:r>
            <a:r>
              <a:rPr lang="en-US" sz="2000" i="1" dirty="0"/>
              <a:t>The project is still ongoing, with continuous improvements being made to enhance accuracy, user experience, and the range of career guidance features.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398" y="664663"/>
            <a:ext cx="8986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details</a:t>
            </a:r>
            <a:endParaRPr lang="en-IN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2079" y="4538931"/>
            <a:ext cx="8986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details</a:t>
            </a:r>
            <a:endParaRPr lang="en-IN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182586"/>
              </p:ext>
            </p:extLst>
          </p:nvPr>
        </p:nvGraphicFramePr>
        <p:xfrm>
          <a:off x="1174459" y="1126047"/>
          <a:ext cx="9237272" cy="3474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80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6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6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438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altLang="en-IN" dirty="0"/>
                        <a:t>College/ University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Department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Univ Roll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80">
                <a:tc>
                  <a:txBody>
                    <a:bodyPr/>
                    <a:lstStyle/>
                    <a:p>
                      <a:r>
                        <a:rPr lang="en-IN" sz="1200" dirty="0" err="1"/>
                        <a:t>Subharjun</a:t>
                      </a:r>
                      <a:r>
                        <a:rPr lang="en-IN" sz="1200" dirty="0"/>
                        <a:t> Bose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Guru Nanak Institute of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B.Tech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500122010031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Team Leader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80">
                <a:tc>
                  <a:txBody>
                    <a:bodyPr/>
                    <a:lstStyle/>
                    <a:p>
                      <a:r>
                        <a:rPr lang="en-IN" sz="1200" dirty="0"/>
                        <a:t>Swayam Bhargava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Guru Nanak Institute of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B.Tech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500122010033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Member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80">
                <a:tc>
                  <a:txBody>
                    <a:bodyPr/>
                    <a:lstStyle/>
                    <a:p>
                      <a:r>
                        <a:rPr lang="en-IN" sz="1200" dirty="0" err="1"/>
                        <a:t>Sahbaj</a:t>
                      </a:r>
                      <a:r>
                        <a:rPr lang="en-IN" sz="1200" dirty="0"/>
                        <a:t> Khan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Guru Nanak Institute of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B.Tech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500122010040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/>
                        <a:t>Member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752">
                <a:tc>
                  <a:txBody>
                    <a:bodyPr/>
                    <a:lstStyle/>
                    <a:p>
                      <a:r>
                        <a:rPr lang="en-IN" sz="1200" dirty="0"/>
                        <a:t>Ipsita Jana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Guru Nanak Institute of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B.Tech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500122020147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/>
                        <a:t>Member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374396"/>
              </p:ext>
            </p:extLst>
          </p:nvPr>
        </p:nvGraphicFramePr>
        <p:xfrm>
          <a:off x="1174459" y="5127222"/>
          <a:ext cx="9798341" cy="82696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25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6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206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IN" sz="1800" dirty="0">
                          <a:sym typeface="+mn-ea"/>
                        </a:rPr>
                        <a:t>College/University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Department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737">
                <a:tc>
                  <a:txBody>
                    <a:bodyPr/>
                    <a:lstStyle/>
                    <a:p>
                      <a:r>
                        <a:rPr lang="en-IN" dirty="0" err="1"/>
                        <a:t>Moloy</a:t>
                      </a:r>
                      <a:r>
                        <a:rPr lang="en-IN" dirty="0"/>
                        <a:t> Dhar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Guru Nanak Institute of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620</TotalTime>
  <Words>690</Words>
  <Application>Microsoft Office PowerPoint</Application>
  <PresentationFormat>Widescreen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Garamond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Arpan Deyasi</dc:creator>
  <cp:lastModifiedBy>Srima Bose</cp:lastModifiedBy>
  <cp:revision>33</cp:revision>
  <dcterms:created xsi:type="dcterms:W3CDTF">2025-03-03T09:14:43Z</dcterms:created>
  <dcterms:modified xsi:type="dcterms:W3CDTF">2025-03-18T18:47:30Z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1033-10.1.0.6758</vt:lpwstr>
  </property>
</Properties>
</file>