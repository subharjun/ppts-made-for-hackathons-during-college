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61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7D68D350-7FE7-47E0-BA42-EFF2005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07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8D350-7FE7-47E0-BA42-EFF2005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63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D68D350-7FE7-47E0-BA42-EFF2005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721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8D350-7FE7-47E0-BA42-EFF2005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855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8D350-7FE7-47E0-BA42-EFF2005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15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8D350-7FE7-47E0-BA42-EFF2005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68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8D350-7FE7-47E0-BA42-EFF2005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312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8D350-7FE7-47E0-BA42-EFF2005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24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8D350-7FE7-47E0-BA42-EFF2005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337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8D350-7FE7-47E0-BA42-EFF2005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047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D68D350-7FE7-47E0-BA42-EFF2005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30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D68D350-7FE7-47E0-BA42-EFF20054C697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8582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D68D350-7FE7-47E0-BA42-EFF2005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582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8D350-7FE7-47E0-BA42-EFF2005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7566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8D350-7FE7-47E0-BA42-EFF2005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5345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8D350-7FE7-47E0-BA42-EFF2005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058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D68D350-7FE7-47E0-BA42-EFF2005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182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8D350-7FE7-47E0-BA42-EFF2005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4877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E4B7160-DC17-B976-C0D4-C792AA36B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7729247" cy="727587"/>
          </a:xfrm>
        </p:spPr>
        <p:txBody>
          <a:bodyPr>
            <a:normAutofit/>
          </a:bodyPr>
          <a:lstStyle/>
          <a:p>
            <a:pPr algn="ctr"/>
            <a:r>
              <a:rPr lang="en-IN" b="1" u="sng" dirty="0"/>
              <a:t>TEAM INFORMATION</a:t>
            </a:r>
            <a:endParaRPr lang="en-IN" b="1" u="sng" dirty="0">
              <a:solidFill>
                <a:schemeClr val="tx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1D323C4-DBAC-2069-E525-4899C51F4E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843207" y="1839912"/>
            <a:ext cx="5397500" cy="3178175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Project Title: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i="1" dirty="0" err="1">
                <a:solidFill>
                  <a:schemeClr val="bg1"/>
                </a:solidFill>
              </a:rPr>
              <a:t>AutomatOS</a:t>
            </a:r>
            <a:r>
              <a:rPr lang="en-IN" i="1" dirty="0">
                <a:solidFill>
                  <a:schemeClr val="bg1"/>
                </a:solidFill>
              </a:rPr>
              <a:t> – The Personal Automation Kernel</a:t>
            </a:r>
            <a:endParaRPr lang="en-IN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Team Name: </a:t>
            </a:r>
            <a:r>
              <a:rPr lang="en-IN" b="1" dirty="0" err="1">
                <a:solidFill>
                  <a:schemeClr val="bg1"/>
                </a:solidFill>
              </a:rPr>
              <a:t>LastHope</a:t>
            </a:r>
            <a:endParaRPr lang="en-IN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Team Members: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 1.Subharjun Bose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 2.Swayam Bhargava</a:t>
            </a:r>
            <a:br>
              <a:rPr lang="en-IN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College / University Name: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Guru Nanak Institute of Technology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1805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4B0EE-BC50-A74A-0168-32C331EEA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9554"/>
            <a:ext cx="9027105" cy="757084"/>
          </a:xfrm>
        </p:spPr>
        <p:txBody>
          <a:bodyPr>
            <a:normAutofit fontScale="90000"/>
          </a:bodyPr>
          <a:lstStyle/>
          <a:p>
            <a:pPr algn="ctr"/>
            <a:r>
              <a:rPr lang="en-GB" u="sng" dirty="0"/>
              <a:t>BRIEF OVERVIEW OF THE CHOSEN TOPIC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37067-60DC-CFDA-29EB-BD6ADC1B5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806" y="1071717"/>
            <a:ext cx="6115665" cy="5171768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🔴 </a:t>
            </a:r>
            <a:r>
              <a:rPr lang="en-IN" b="1" u="sng" dirty="0">
                <a:solidFill>
                  <a:srgbClr val="FF0000"/>
                </a:solidFill>
              </a:rPr>
              <a:t>The Problem: Digital Distraction</a:t>
            </a:r>
            <a:endParaRPr lang="en-IN" b="1" dirty="0"/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📱 </a:t>
            </a:r>
            <a:r>
              <a:rPr lang="en-IN" b="1" dirty="0">
                <a:solidFill>
                  <a:schemeClr val="bg1"/>
                </a:solidFill>
              </a:rPr>
              <a:t>People spend excessive time on distracting apps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⏱️ Frequent phone usage breaks focus and deep work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🧠 Self-discipline alone is often not enough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😵 Distractions reduce productivity and efficiency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❌ No automatic control over user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endParaRPr lang="en-IN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rgbClr val="FF0000"/>
                </a:solidFill>
              </a:rPr>
              <a:t>🧠 </a:t>
            </a:r>
            <a:r>
              <a:rPr lang="en-IN" b="1" u="sng" dirty="0">
                <a:solidFill>
                  <a:srgbClr val="FF0000"/>
                </a:solidFill>
              </a:rPr>
              <a:t>Our Solution: </a:t>
            </a:r>
            <a:r>
              <a:rPr lang="en-IN" b="1" u="sng" dirty="0" err="1">
                <a:solidFill>
                  <a:srgbClr val="FF0000"/>
                </a:solidFill>
              </a:rPr>
              <a:t>AutomatOS</a:t>
            </a:r>
            <a:endParaRPr lang="en-IN" b="1" dirty="0"/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⚙️ </a:t>
            </a:r>
            <a:r>
              <a:rPr lang="en-IN" b="1" dirty="0">
                <a:solidFill>
                  <a:schemeClr val="bg1"/>
                </a:solidFill>
              </a:rPr>
              <a:t>A Personal Automation Kernel, not just an assistant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👀 Works silently in the background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🧾</a:t>
            </a:r>
            <a:r>
              <a:rPr lang="en-IN" b="1" dirty="0">
                <a:solidFill>
                  <a:schemeClr val="bg1"/>
                </a:solidFill>
              </a:rPr>
              <a:t> Converts natural language into system rules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🚫 Automatically stops distractions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🔄 Requires no manual activation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F5B928-EB02-EBB9-E1BF-480B725B7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613" y="1071716"/>
            <a:ext cx="5259318" cy="51717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01901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456EC-6613-ACD3-DA7D-B997A97EF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9145092" cy="786581"/>
          </a:xfrm>
        </p:spPr>
        <p:txBody>
          <a:bodyPr>
            <a:normAutofit/>
          </a:bodyPr>
          <a:lstStyle/>
          <a:p>
            <a:pPr algn="ctr"/>
            <a:r>
              <a:rPr lang="en-GB" sz="3200" b="1" u="sng" dirty="0"/>
              <a:t>SUPPORTING DATA AND RELEVANT INSIGHTS</a:t>
            </a:r>
            <a:endParaRPr lang="en-IN" sz="32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838B8-42A2-F6A5-5255-AF0010721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3" y="747252"/>
            <a:ext cx="10805651" cy="5889521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GB" sz="1700" b="1" u="sng" dirty="0">
                <a:solidFill>
                  <a:srgbClr val="FF0000"/>
                </a:solidFill>
              </a:rPr>
              <a:t>Market Research &amp; Problem Validation</a:t>
            </a:r>
          </a:p>
          <a:p>
            <a:pPr marL="0" indent="0">
              <a:buNone/>
            </a:pPr>
            <a:r>
              <a:rPr lang="en-GB" sz="1500" b="1" dirty="0">
                <a:solidFill>
                  <a:srgbClr val="0070C0"/>
                </a:solidFill>
              </a:rPr>
              <a:t>Digital Distraction Statistics</a:t>
            </a:r>
          </a:p>
          <a:p>
            <a:pPr marL="0" indent="0">
              <a:buNone/>
            </a:pPr>
            <a:r>
              <a:rPr lang="en-GB" sz="1600" b="1" dirty="0">
                <a:solidFill>
                  <a:schemeClr val="bg1"/>
                </a:solidFill>
              </a:rPr>
              <a:t>💸 $650 billion lost annually due to workplace distractions</a:t>
            </a:r>
          </a:p>
          <a:p>
            <a:pPr marL="0" indent="0">
              <a:buNone/>
            </a:pPr>
            <a:r>
              <a:rPr lang="en-GB" sz="1600" b="1" dirty="0">
                <a:solidFill>
                  <a:schemeClr val="bg1"/>
                </a:solidFill>
              </a:rPr>
              <a:t>⏳ 23 minutes on average required to regain focus after an interruption</a:t>
            </a:r>
          </a:p>
          <a:p>
            <a:pPr marL="0" indent="0">
              <a:buNone/>
            </a:pPr>
            <a:r>
              <a:rPr lang="en-GB" sz="1600" b="1" dirty="0">
                <a:solidFill>
                  <a:schemeClr val="bg1"/>
                </a:solidFill>
              </a:rPr>
              <a:t>📱 88% of people check their phones within the first hour of waking up</a:t>
            </a:r>
          </a:p>
          <a:p>
            <a:pPr marL="0" indent="0">
              <a:buNone/>
            </a:pPr>
            <a:r>
              <a:rPr lang="en-GB" sz="1600" b="1" dirty="0">
                <a:solidFill>
                  <a:schemeClr val="bg1"/>
                </a:solidFill>
              </a:rPr>
              <a:t>🧠 50% of teenagers feel addicted to mobile devices</a:t>
            </a:r>
          </a:p>
          <a:p>
            <a:pPr marL="0" indent="0">
              <a:buNone/>
            </a:pPr>
            <a:r>
              <a:rPr lang="en-IN" sz="1700" b="1" u="sng" dirty="0">
                <a:solidFill>
                  <a:schemeClr val="bg1"/>
                </a:solidFill>
              </a:rPr>
              <a:t>Current Solution Limitations</a:t>
            </a:r>
            <a:endParaRPr lang="en-GB" sz="1700" b="1" u="sng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GB" sz="1700" b="1" u="sng" dirty="0">
                <a:solidFill>
                  <a:srgbClr val="FF0000"/>
                </a:solidFill>
              </a:rPr>
              <a:t>Technology Validation &amp; User </a:t>
            </a:r>
            <a:r>
              <a:rPr lang="en-GB" sz="1700" b="1" u="sng" dirty="0" err="1">
                <a:solidFill>
                  <a:srgbClr val="FF0000"/>
                </a:solidFill>
              </a:rPr>
              <a:t>Behavior</a:t>
            </a:r>
            <a:r>
              <a:rPr lang="en-GB" sz="1700" b="1" u="sng" dirty="0">
                <a:solidFill>
                  <a:srgbClr val="FF0000"/>
                </a:solidFill>
              </a:rPr>
              <a:t> Insights</a:t>
            </a:r>
          </a:p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</a:rPr>
              <a:t>⚙️ AI Intent Parsing: 94% accuracy (</a:t>
            </a:r>
            <a:r>
              <a:rPr lang="en-IN" sz="1600" b="1" dirty="0" err="1">
                <a:solidFill>
                  <a:schemeClr val="bg1"/>
                </a:solidFill>
              </a:rPr>
              <a:t>Groq</a:t>
            </a:r>
            <a:r>
              <a:rPr lang="en-IN" sz="1600" b="1" dirty="0">
                <a:solidFill>
                  <a:schemeClr val="bg1"/>
                </a:solidFill>
              </a:rPr>
              <a:t> Llama-3) | ⚡ Real-time Monitoring: &lt;2ms response | 🪟 Native Windows API control | 🗣️ Natural language commands | 👥 67% users prefer automation | ⏱️ 3× faster intervention impact | 🔊 45% higher compliance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17C7829-8E84-6FF0-F571-50971CBF6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720687"/>
              </p:ext>
            </p:extLst>
          </p:nvPr>
        </p:nvGraphicFramePr>
        <p:xfrm>
          <a:off x="471949" y="3154706"/>
          <a:ext cx="4070554" cy="2184209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053578">
                  <a:extLst>
                    <a:ext uri="{9D8B030D-6E8A-4147-A177-3AD203B41FA5}">
                      <a16:colId xmlns:a16="http://schemas.microsoft.com/office/drawing/2014/main" val="3889432607"/>
                    </a:ext>
                  </a:extLst>
                </a:gridCol>
                <a:gridCol w="2016976">
                  <a:extLst>
                    <a:ext uri="{9D8B030D-6E8A-4147-A177-3AD203B41FA5}">
                      <a16:colId xmlns:a16="http://schemas.microsoft.com/office/drawing/2014/main" val="2833483142"/>
                    </a:ext>
                  </a:extLst>
                </a:gridCol>
              </a:tblGrid>
              <a:tr h="481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</a:rPr>
                        <a:t>Traditional Assistants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 err="1">
                          <a:solidFill>
                            <a:schemeClr val="bg1"/>
                          </a:solidFill>
                        </a:rPr>
                        <a:t>AutomatOS</a:t>
                      </a:r>
                      <a:endParaRPr lang="en-IN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1243882"/>
                  </a:ext>
                </a:extLst>
              </a:tr>
              <a:tr h="392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chemeClr val="bg1"/>
                          </a:solidFill>
                        </a:rPr>
                        <a:t>❌ Wait for user commands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solidFill>
                            <a:schemeClr val="bg1"/>
                          </a:solidFill>
                        </a:rPr>
                        <a:t>✅ Proactive 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9354442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solidFill>
                            <a:schemeClr val="bg1"/>
                          </a:solidFill>
                        </a:rPr>
                        <a:t>❌ No behavior enforcement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chemeClr val="bg1"/>
                          </a:solidFill>
                        </a:rPr>
                        <a:t>✅ Active countermeasures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0571860"/>
                  </a:ext>
                </a:extLst>
              </a:tr>
              <a:tr h="392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solidFill>
                            <a:schemeClr val="bg1"/>
                          </a:solidFill>
                        </a:rPr>
                        <a:t>❌ Generic responses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chemeClr val="bg1"/>
                          </a:solidFill>
                        </a:rPr>
                        <a:t>✅ Personalized rules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3108307"/>
                  </a:ext>
                </a:extLst>
              </a:tr>
              <a:tr h="392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solidFill>
                            <a:schemeClr val="bg1"/>
                          </a:solidFill>
                        </a:rPr>
                        <a:t>❌ Cloud-dependent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chemeClr val="bg1"/>
                          </a:solidFill>
                        </a:rPr>
                        <a:t>✅ Local system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3101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5157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7B6EC-4BC1-5A4C-1084-73FB746B8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114" y="0"/>
            <a:ext cx="8596668" cy="816638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/>
              <a:t>PROPOSED TECHNOLOGICAL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48793-33CD-21B4-46D7-4DB174816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541" y="816638"/>
            <a:ext cx="5861118" cy="5800472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700" b="1" u="sng" dirty="0">
                <a:solidFill>
                  <a:srgbClr val="FF0000"/>
                </a:solidFill>
              </a:rPr>
              <a:t>Architecture &amp; Working</a:t>
            </a:r>
          </a:p>
          <a:p>
            <a:pPr marL="0" indent="0">
              <a:buNone/>
            </a:pPr>
            <a:r>
              <a:rPr lang="en-IN" sz="1600" b="1" dirty="0">
                <a:solidFill>
                  <a:srgbClr val="0070C0"/>
                </a:solidFill>
              </a:rPr>
              <a:t>Core Components</a:t>
            </a:r>
          </a:p>
          <a:p>
            <a:pPr marL="0" indent="0">
              <a:buNone/>
            </a:pPr>
            <a:r>
              <a:rPr lang="en-IN" sz="1600" b="1" dirty="0">
                <a:solidFill>
                  <a:schemeClr val="tx1"/>
                </a:solidFill>
              </a:rPr>
              <a:t>🧠 </a:t>
            </a:r>
            <a:r>
              <a:rPr lang="en-IN" sz="1600" b="1" dirty="0">
                <a:solidFill>
                  <a:schemeClr val="bg1"/>
                </a:solidFill>
              </a:rPr>
              <a:t>AI Brain (</a:t>
            </a:r>
            <a:r>
              <a:rPr lang="en-IN" sz="1600" b="1" dirty="0" err="1">
                <a:solidFill>
                  <a:schemeClr val="bg1"/>
                </a:solidFill>
              </a:rPr>
              <a:t>Groq</a:t>
            </a:r>
            <a:r>
              <a:rPr lang="en-IN" sz="1600" b="1" dirty="0">
                <a:solidFill>
                  <a:schemeClr val="bg1"/>
                </a:solidFill>
              </a:rPr>
              <a:t> Llama-3 70B)</a:t>
            </a:r>
            <a:br>
              <a:rPr lang="en-IN" sz="1600" b="1" dirty="0">
                <a:solidFill>
                  <a:schemeClr val="bg1"/>
                </a:solidFill>
              </a:rPr>
            </a:br>
            <a:r>
              <a:rPr lang="en-IN" sz="1600" b="1" dirty="0">
                <a:solidFill>
                  <a:schemeClr val="bg1"/>
                </a:solidFill>
              </a:rPr>
              <a:t>Converts natural language commands into structured rules</a:t>
            </a:r>
          </a:p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</a:rPr>
              <a:t>👀 Monitoring Engine</a:t>
            </a:r>
            <a:br>
              <a:rPr lang="en-IN" sz="1600" b="1" dirty="0">
                <a:solidFill>
                  <a:schemeClr val="bg1"/>
                </a:solidFill>
              </a:rPr>
            </a:br>
            <a:r>
              <a:rPr lang="en-IN" sz="1600" b="1" dirty="0">
                <a:solidFill>
                  <a:schemeClr val="bg1"/>
                </a:solidFill>
              </a:rPr>
              <a:t>Uses Windows API to track active applications in real time</a:t>
            </a:r>
          </a:p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</a:rPr>
              <a:t>⚙️ Enforcement Actions</a:t>
            </a:r>
            <a:br>
              <a:rPr lang="en-IN" sz="1600" b="1" dirty="0">
                <a:solidFill>
                  <a:schemeClr val="bg1"/>
                </a:solidFill>
              </a:rPr>
            </a:br>
            <a:r>
              <a:rPr lang="en-IN" sz="1600" b="1" dirty="0">
                <a:solidFill>
                  <a:schemeClr val="bg1"/>
                </a:solidFill>
              </a:rPr>
              <a:t>Kill apps, minimize windows, voice scolding, smart scheduling</a:t>
            </a:r>
          </a:p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</a:rPr>
              <a:t>🗄️ Persistent Memory (MongoDB)</a:t>
            </a:r>
            <a:br>
              <a:rPr lang="en-IN" sz="1600" b="1" dirty="0">
                <a:solidFill>
                  <a:schemeClr val="bg1"/>
                </a:solidFill>
              </a:rPr>
            </a:br>
            <a:r>
              <a:rPr lang="en-IN" sz="1600" b="1" dirty="0">
                <a:solidFill>
                  <a:schemeClr val="bg1"/>
                </a:solidFill>
              </a:rPr>
              <a:t>Stores rules, preferences, and system state</a:t>
            </a:r>
          </a:p>
          <a:p>
            <a:pPr marL="0" indent="0">
              <a:buNone/>
            </a:pPr>
            <a:r>
              <a:rPr lang="en-IN" sz="1600" b="1" dirty="0">
                <a:solidFill>
                  <a:srgbClr val="0070C0"/>
                </a:solidFill>
              </a:rPr>
              <a:t>How It Works 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bg1"/>
                </a:solidFill>
              </a:rPr>
              <a:t>User gives a natural language command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bg1"/>
                </a:solidFill>
              </a:rPr>
              <a:t>AI understands intent and creates a rule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bg1"/>
                </a:solidFill>
              </a:rPr>
              <a:t>System continuously monitors activity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bg1"/>
                </a:solidFill>
              </a:rPr>
              <a:t>Action is executed automatically</a:t>
            </a:r>
          </a:p>
          <a:p>
            <a:pPr marL="0" indent="0">
              <a:buNone/>
            </a:pPr>
            <a:endParaRPr lang="en-IN" sz="1700" b="1" u="sng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74FD18-B434-CE4A-24C7-9EDDAE3EE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794" y="816638"/>
            <a:ext cx="5418665" cy="58004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03308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C65D7-4C1A-3A09-8273-C2CDBF70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8276" y="68826"/>
            <a:ext cx="8596668" cy="747812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/>
              <a:t>TECHNICAL INNOVATION &amp;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397B4-47A8-7985-B0FD-9B9626ECD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030" y="737980"/>
            <a:ext cx="5457996" cy="5972535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1700" b="1" u="sng" dirty="0">
                <a:solidFill>
                  <a:srgbClr val="FF0000"/>
                </a:solidFill>
              </a:rPr>
              <a:t>Why </a:t>
            </a:r>
            <a:r>
              <a:rPr lang="en-IN" sz="1700" b="1" u="sng" dirty="0" err="1">
                <a:solidFill>
                  <a:srgbClr val="FF0000"/>
                </a:solidFill>
              </a:rPr>
              <a:t>AutomatOS</a:t>
            </a:r>
            <a:r>
              <a:rPr lang="en-IN" sz="1700" b="1" u="sng" dirty="0">
                <a:solidFill>
                  <a:srgbClr val="FF0000"/>
                </a:solidFill>
              </a:rPr>
              <a:t> is Different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Technical Innovation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b="1" dirty="0">
                <a:solidFill>
                  <a:schemeClr val="bg1"/>
                </a:solidFill>
              </a:rPr>
              <a:t>First proactive automation OS for productivity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b="1" dirty="0">
                <a:solidFill>
                  <a:schemeClr val="bg1"/>
                </a:solidFill>
              </a:rPr>
              <a:t>Natural language rule engine (no coding required)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b="1" dirty="0">
                <a:solidFill>
                  <a:schemeClr val="bg1"/>
                </a:solidFill>
              </a:rPr>
              <a:t>System-level control over applications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b="1" dirty="0">
                <a:solidFill>
                  <a:schemeClr val="bg1"/>
                </a:solidFill>
              </a:rPr>
              <a:t>AI-powered intent parsing with high accuracy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b="1" dirty="0">
                <a:solidFill>
                  <a:schemeClr val="bg1"/>
                </a:solidFill>
              </a:rPr>
              <a:t>Works silently with zero manual setup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Feasibility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tx1"/>
                </a:solidFill>
              </a:rPr>
              <a:t>✅   </a:t>
            </a:r>
            <a:r>
              <a:rPr lang="en-GB" b="1" dirty="0">
                <a:solidFill>
                  <a:schemeClr val="bg1"/>
                </a:solidFill>
              </a:rPr>
              <a:t>Technical: Working prototype with Windows integration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</a:rPr>
              <a:t>✅   Market: Growing demand for productivity tools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</a:rPr>
              <a:t>✅   Economic: Low cost, freemium &amp; enterprise-ready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Impact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</a:rPr>
              <a:t>⏱️   40% increase in focused work time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</a:rPr>
              <a:t>🧠   Reduced digital addiction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</a:rPr>
              <a:t>🏢   Productivity boost for individuals &amp; organizations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Competitive Advantage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b="1" dirty="0">
                <a:solidFill>
                  <a:schemeClr val="bg1"/>
                </a:solidFill>
              </a:rPr>
              <a:t>First-mover advantage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b="1" dirty="0">
                <a:solidFill>
                  <a:schemeClr val="bg1"/>
                </a:solidFill>
              </a:rPr>
              <a:t>Deep OS-level control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b="1" dirty="0">
                <a:solidFill>
                  <a:schemeClr val="bg1"/>
                </a:solidFill>
              </a:rPr>
              <a:t>Strong AI differentiation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b="1" dirty="0">
                <a:solidFill>
                  <a:schemeClr val="bg1"/>
                </a:solidFill>
              </a:rPr>
              <a:t>Simple “set &amp; forget” usage</a:t>
            </a:r>
          </a:p>
          <a:p>
            <a:pPr marL="0" indent="0">
              <a:buNone/>
            </a:pPr>
            <a:endParaRPr lang="en-IN" sz="1700" b="1" u="sng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A10C8C-FAC9-21B7-1B29-0D18428E3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069" y="816638"/>
            <a:ext cx="5645901" cy="58938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5320639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97</TotalTime>
  <Words>476</Words>
  <Application>Microsoft Office PowerPoint</Application>
  <PresentationFormat>Widescreen</PresentationFormat>
  <Paragraphs>77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</vt:lpstr>
      <vt:lpstr>Vapor Trail</vt:lpstr>
      <vt:lpstr>TEAM INFORMATION</vt:lpstr>
      <vt:lpstr>BRIEF OVERVIEW OF THE CHOSEN TOPIC</vt:lpstr>
      <vt:lpstr>SUPPORTING DATA AND RELEVANT INSIGHTS</vt:lpstr>
      <vt:lpstr>PROPOSED TECHNOLOGICAL SOLUTION</vt:lpstr>
      <vt:lpstr>TECHNICAL INNOVATION &amp;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Beauty Kumari</dc:creator>
  <cp:lastModifiedBy>Beauty Kumari</cp:lastModifiedBy>
  <cp:revision>15</cp:revision>
  <dcterms:created xsi:type="dcterms:W3CDTF">2026-01-26T14:41:30Z</dcterms:created>
  <dcterms:modified xsi:type="dcterms:W3CDTF">2026-01-26T16:57:48Z</dcterms:modified>
</cp:coreProperties>
</file>