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FF89A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DFD5D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FF89A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DFD5D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FF89A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1" i="0">
                <a:solidFill>
                  <a:srgbClr val="FF89A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C0423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8176" y="7749540"/>
            <a:ext cx="1723643" cy="411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1313764"/>
            <a:ext cx="13009880" cy="13003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1" i="0">
                <a:solidFill>
                  <a:srgbClr val="FF89A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2489" y="2812745"/>
            <a:ext cx="8077834" cy="3595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DFD5D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313764"/>
            <a:ext cx="11135995" cy="734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AI</a:t>
            </a:r>
            <a:r>
              <a:rPr dirty="0" spc="-80"/>
              <a:t> </a:t>
            </a:r>
            <a:r>
              <a:rPr dirty="0"/>
              <a:t>Career</a:t>
            </a:r>
            <a:r>
              <a:rPr dirty="0" spc="-200"/>
              <a:t> </a:t>
            </a:r>
            <a:r>
              <a:rPr dirty="0"/>
              <a:t>Mentor:</a:t>
            </a:r>
            <a:r>
              <a:rPr dirty="0" spc="-165"/>
              <a:t> </a:t>
            </a:r>
            <a:r>
              <a:rPr dirty="0" spc="-415"/>
              <a:t>Y</a:t>
            </a:r>
            <a:r>
              <a:rPr dirty="0" spc="105"/>
              <a:t>o</a:t>
            </a:r>
            <a:r>
              <a:rPr dirty="0" spc="110"/>
              <a:t>u</a:t>
            </a:r>
            <a:r>
              <a:rPr dirty="0" spc="105"/>
              <a:t>r</a:t>
            </a:r>
            <a:r>
              <a:rPr dirty="0" spc="-85"/>
              <a:t> </a:t>
            </a:r>
            <a:r>
              <a:rPr dirty="0"/>
              <a:t>Path</a:t>
            </a:r>
            <a:r>
              <a:rPr dirty="0" spc="-125"/>
              <a:t> </a:t>
            </a:r>
            <a:r>
              <a:rPr dirty="0"/>
              <a:t>to</a:t>
            </a:r>
            <a:r>
              <a:rPr dirty="0" spc="-165"/>
              <a:t> </a:t>
            </a:r>
            <a:r>
              <a:rPr dirty="0" spc="-10"/>
              <a:t>Success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2374874"/>
            <a:ext cx="12876530" cy="1137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95"/>
              </a:spcBef>
            </a:pP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Welcome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AI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5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Mentor,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an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innovative</a:t>
            </a:r>
            <a:r>
              <a:rPr dirty="0" sz="1750" spc="-1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platform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designed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revolutionize</a:t>
            </a:r>
            <a:r>
              <a:rPr dirty="0" sz="1750" spc="-1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development.</a:t>
            </a:r>
            <a:r>
              <a:rPr dirty="0" sz="1750" spc="-2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We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leverage</a:t>
            </a:r>
            <a:r>
              <a:rPr dirty="0" sz="1750" spc="-1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artificial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intelligence</a:t>
            </a:r>
            <a:r>
              <a:rPr dirty="0" sz="1750" spc="-21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provide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personalized</a:t>
            </a:r>
            <a:r>
              <a:rPr dirty="0" sz="1750" spc="-1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guidance,</a:t>
            </a:r>
            <a:r>
              <a:rPr dirty="0" sz="1750" spc="-1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helping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you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navigate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the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complexities</a:t>
            </a:r>
            <a:r>
              <a:rPr dirty="0" sz="1750" spc="-2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of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 the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job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market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achieve</a:t>
            </a:r>
            <a:r>
              <a:rPr dirty="0" sz="1750" spc="-17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your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professional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aspirations.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28699" y="4711446"/>
            <a:ext cx="5261610" cy="1802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0" b="1">
                <a:solidFill>
                  <a:srgbClr val="FF89AE"/>
                </a:solidFill>
                <a:latin typeface="Arial"/>
                <a:cs typeface="Arial"/>
              </a:rPr>
              <a:t>Team</a:t>
            </a:r>
            <a:r>
              <a:rPr dirty="0" sz="2300" spc="-2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89AE"/>
                </a:solidFill>
                <a:latin typeface="Arial"/>
                <a:cs typeface="Arial"/>
              </a:rPr>
              <a:t>Name:</a:t>
            </a:r>
            <a:r>
              <a:rPr dirty="0" sz="2300" spc="-14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89AE"/>
                </a:solidFill>
                <a:latin typeface="Arial"/>
                <a:cs typeface="Arial"/>
              </a:rPr>
              <a:t>Last</a:t>
            </a: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FF89AE"/>
                </a:solidFill>
                <a:latin typeface="Arial"/>
                <a:cs typeface="Arial"/>
              </a:rPr>
              <a:t>Hope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300">
              <a:latin typeface="Arial"/>
              <a:cs typeface="Arial"/>
            </a:endParaRPr>
          </a:p>
          <a:p>
            <a:pPr marL="99060">
              <a:lnSpc>
                <a:spcPct val="100000"/>
              </a:lnSpc>
              <a:tabLst>
                <a:tab pos="2530475" algn="l"/>
              </a:tabLst>
            </a:pPr>
            <a:r>
              <a:rPr dirty="0" sz="2300" spc="-70" b="1">
                <a:solidFill>
                  <a:srgbClr val="FF89AE"/>
                </a:solidFill>
                <a:latin typeface="Arial"/>
                <a:cs typeface="Arial"/>
              </a:rPr>
              <a:t>Team</a:t>
            </a:r>
            <a:r>
              <a:rPr dirty="0" sz="2300" spc="-3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89AE"/>
                </a:solidFill>
                <a:latin typeface="Arial"/>
                <a:cs typeface="Arial"/>
              </a:rPr>
              <a:t>Members</a:t>
            </a:r>
            <a:r>
              <a:rPr dirty="0" sz="2300" spc="-8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50" b="1">
                <a:solidFill>
                  <a:srgbClr val="FF89AE"/>
                </a:solidFill>
                <a:latin typeface="Arial"/>
                <a:cs typeface="Arial"/>
              </a:rPr>
              <a:t>:</a:t>
            </a:r>
            <a:r>
              <a:rPr dirty="0" sz="2300" b="1">
                <a:solidFill>
                  <a:srgbClr val="FF89AE"/>
                </a:solidFill>
                <a:latin typeface="Arial"/>
                <a:cs typeface="Arial"/>
              </a:rPr>
              <a:t>	</a:t>
            </a:r>
            <a:r>
              <a:rPr dirty="0" sz="2300" spc="-25" b="1">
                <a:solidFill>
                  <a:srgbClr val="FF89AE"/>
                </a:solidFill>
                <a:latin typeface="Arial"/>
                <a:cs typeface="Arial"/>
              </a:rPr>
              <a:t>Subharjun</a:t>
            </a:r>
            <a:r>
              <a:rPr dirty="0" sz="2300" spc="-7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FF89AE"/>
                </a:solidFill>
                <a:latin typeface="Arial"/>
                <a:cs typeface="Arial"/>
              </a:rPr>
              <a:t>Bose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2300">
              <a:latin typeface="Arial"/>
              <a:cs typeface="Arial"/>
            </a:endParaRPr>
          </a:p>
          <a:p>
            <a:pPr marL="2925445">
              <a:lnSpc>
                <a:spcPct val="100000"/>
              </a:lnSpc>
            </a:pPr>
            <a:r>
              <a:rPr dirty="0" sz="2300" b="1">
                <a:solidFill>
                  <a:srgbClr val="FF89AE"/>
                </a:solidFill>
                <a:latin typeface="Arial"/>
                <a:cs typeface="Arial"/>
              </a:rPr>
              <a:t>Zainab</a:t>
            </a:r>
            <a:r>
              <a:rPr dirty="0" sz="2300" spc="-4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FF89AE"/>
                </a:solidFill>
                <a:latin typeface="Arial"/>
                <a:cs typeface="Arial"/>
              </a:rPr>
              <a:t>Khushrez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95527" y="3781044"/>
            <a:ext cx="27940" cy="3095625"/>
          </a:xfrm>
          <a:custGeom>
            <a:avLst/>
            <a:gdLst/>
            <a:ahLst/>
            <a:cxnLst/>
            <a:rect l="l" t="t" r="r" b="b"/>
            <a:pathLst>
              <a:path w="27940" h="3095625">
                <a:moveTo>
                  <a:pt x="27431" y="0"/>
                </a:moveTo>
                <a:lnTo>
                  <a:pt x="0" y="0"/>
                </a:lnTo>
                <a:lnTo>
                  <a:pt x="0" y="3095243"/>
                </a:lnTo>
                <a:lnTo>
                  <a:pt x="27431" y="3095243"/>
                </a:lnTo>
                <a:lnTo>
                  <a:pt x="27431" y="0"/>
                </a:lnTo>
                <a:close/>
              </a:path>
            </a:pathLst>
          </a:custGeom>
          <a:solidFill>
            <a:srgbClr val="866CD3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7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25"/>
              <a:t> </a:t>
            </a:r>
            <a:r>
              <a:rPr dirty="0" spc="-35"/>
              <a:t>Problem:</a:t>
            </a:r>
            <a:r>
              <a:rPr dirty="0" spc="-140"/>
              <a:t> </a:t>
            </a:r>
            <a:r>
              <a:rPr dirty="0" spc="-50"/>
              <a:t>Navigating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 spc="-100"/>
              <a:t>Complex</a:t>
            </a:r>
            <a:r>
              <a:rPr dirty="0" spc="-640"/>
              <a:t> </a:t>
            </a:r>
            <a:r>
              <a:rPr dirty="0" spc="-555"/>
              <a:t>J</a:t>
            </a:r>
            <a:r>
              <a:rPr dirty="0" spc="-120"/>
              <a:t>o</a:t>
            </a:r>
            <a:r>
              <a:rPr dirty="0" spc="-15"/>
              <a:t>b</a:t>
            </a:r>
            <a:r>
              <a:rPr dirty="0" spc="-135"/>
              <a:t> </a:t>
            </a:r>
            <a:r>
              <a:rPr dirty="0" spc="-10"/>
              <a:t>Market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0955" y="2775204"/>
            <a:ext cx="516890" cy="521334"/>
            <a:chOff x="790955" y="2775204"/>
            <a:chExt cx="516890" cy="521334"/>
          </a:xfrm>
        </p:grpSpPr>
        <p:sp>
          <p:nvSpPr>
            <p:cNvPr id="4" name="object 4" descr=""/>
            <p:cNvSpPr/>
            <p:nvPr/>
          </p:nvSpPr>
          <p:spPr>
            <a:xfrm>
              <a:off x="795527" y="2779776"/>
              <a:ext cx="508000" cy="512445"/>
            </a:xfrm>
            <a:custGeom>
              <a:avLst/>
              <a:gdLst/>
              <a:ahLst/>
              <a:cxnLst/>
              <a:rect l="l" t="t" r="r" b="b"/>
              <a:pathLst>
                <a:path w="508000" h="512445">
                  <a:moveTo>
                    <a:pt x="412750" y="0"/>
                  </a:moveTo>
                  <a:lnTo>
                    <a:pt x="94741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1"/>
                  </a:lnTo>
                  <a:lnTo>
                    <a:pt x="0" y="417322"/>
                  </a:lnTo>
                  <a:lnTo>
                    <a:pt x="7445" y="454199"/>
                  </a:lnTo>
                  <a:lnTo>
                    <a:pt x="27749" y="484314"/>
                  </a:lnTo>
                  <a:lnTo>
                    <a:pt x="57864" y="504618"/>
                  </a:lnTo>
                  <a:lnTo>
                    <a:pt x="94741" y="512063"/>
                  </a:lnTo>
                  <a:lnTo>
                    <a:pt x="412750" y="512063"/>
                  </a:lnTo>
                  <a:lnTo>
                    <a:pt x="449627" y="504618"/>
                  </a:lnTo>
                  <a:lnTo>
                    <a:pt x="479742" y="484314"/>
                  </a:lnTo>
                  <a:lnTo>
                    <a:pt x="500046" y="454199"/>
                  </a:lnTo>
                  <a:lnTo>
                    <a:pt x="507491" y="417322"/>
                  </a:lnTo>
                  <a:lnTo>
                    <a:pt x="507491" y="94741"/>
                  </a:lnTo>
                  <a:lnTo>
                    <a:pt x="500046" y="57864"/>
                  </a:lnTo>
                  <a:lnTo>
                    <a:pt x="479742" y="27749"/>
                  </a:lnTo>
                  <a:lnTo>
                    <a:pt x="449627" y="7445"/>
                  </a:lnTo>
                  <a:lnTo>
                    <a:pt x="412750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5527" y="2779776"/>
              <a:ext cx="508000" cy="512445"/>
            </a:xfrm>
            <a:custGeom>
              <a:avLst/>
              <a:gdLst/>
              <a:ahLst/>
              <a:cxnLst/>
              <a:rect l="l" t="t" r="r" b="b"/>
              <a:pathLst>
                <a:path w="508000" h="512445">
                  <a:moveTo>
                    <a:pt x="0" y="94741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1" y="0"/>
                  </a:lnTo>
                  <a:lnTo>
                    <a:pt x="412750" y="0"/>
                  </a:lnTo>
                  <a:lnTo>
                    <a:pt x="449627" y="7445"/>
                  </a:lnTo>
                  <a:lnTo>
                    <a:pt x="479742" y="27749"/>
                  </a:lnTo>
                  <a:lnTo>
                    <a:pt x="500046" y="57864"/>
                  </a:lnTo>
                  <a:lnTo>
                    <a:pt x="507491" y="94741"/>
                  </a:lnTo>
                  <a:lnTo>
                    <a:pt x="507491" y="417322"/>
                  </a:lnTo>
                  <a:lnTo>
                    <a:pt x="500046" y="454199"/>
                  </a:lnTo>
                  <a:lnTo>
                    <a:pt x="479742" y="484314"/>
                  </a:lnTo>
                  <a:lnTo>
                    <a:pt x="449627" y="504618"/>
                  </a:lnTo>
                  <a:lnTo>
                    <a:pt x="412750" y="512063"/>
                  </a:lnTo>
                  <a:lnTo>
                    <a:pt x="94741" y="512063"/>
                  </a:lnTo>
                  <a:lnTo>
                    <a:pt x="57864" y="504618"/>
                  </a:lnTo>
                  <a:lnTo>
                    <a:pt x="27749" y="484314"/>
                  </a:lnTo>
                  <a:lnTo>
                    <a:pt x="7445" y="454199"/>
                  </a:lnTo>
                  <a:lnTo>
                    <a:pt x="0" y="417322"/>
                  </a:lnTo>
                  <a:lnTo>
                    <a:pt x="0" y="94741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790955" y="4178808"/>
            <a:ext cx="516890" cy="516890"/>
            <a:chOff x="790955" y="4178808"/>
            <a:chExt cx="516890" cy="516890"/>
          </a:xfrm>
        </p:grpSpPr>
        <p:sp>
          <p:nvSpPr>
            <p:cNvPr id="7" name="object 7" descr=""/>
            <p:cNvSpPr/>
            <p:nvPr/>
          </p:nvSpPr>
          <p:spPr>
            <a:xfrm>
              <a:off x="795527" y="418338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412750" y="0"/>
                  </a:moveTo>
                  <a:lnTo>
                    <a:pt x="94741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2"/>
                  </a:lnTo>
                  <a:lnTo>
                    <a:pt x="0" y="412750"/>
                  </a:lnTo>
                  <a:lnTo>
                    <a:pt x="7445" y="449627"/>
                  </a:lnTo>
                  <a:lnTo>
                    <a:pt x="27749" y="479742"/>
                  </a:lnTo>
                  <a:lnTo>
                    <a:pt x="57864" y="500046"/>
                  </a:lnTo>
                  <a:lnTo>
                    <a:pt x="94741" y="507492"/>
                  </a:lnTo>
                  <a:lnTo>
                    <a:pt x="412750" y="507492"/>
                  </a:lnTo>
                  <a:lnTo>
                    <a:pt x="449627" y="500046"/>
                  </a:lnTo>
                  <a:lnTo>
                    <a:pt x="479742" y="479742"/>
                  </a:lnTo>
                  <a:lnTo>
                    <a:pt x="500046" y="449627"/>
                  </a:lnTo>
                  <a:lnTo>
                    <a:pt x="507491" y="412750"/>
                  </a:lnTo>
                  <a:lnTo>
                    <a:pt x="507491" y="94742"/>
                  </a:lnTo>
                  <a:lnTo>
                    <a:pt x="500046" y="57864"/>
                  </a:lnTo>
                  <a:lnTo>
                    <a:pt x="479742" y="27749"/>
                  </a:lnTo>
                  <a:lnTo>
                    <a:pt x="449627" y="7445"/>
                  </a:lnTo>
                  <a:lnTo>
                    <a:pt x="412750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95527" y="418338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0" y="94742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1" y="0"/>
                  </a:lnTo>
                  <a:lnTo>
                    <a:pt x="412750" y="0"/>
                  </a:lnTo>
                  <a:lnTo>
                    <a:pt x="449627" y="7445"/>
                  </a:lnTo>
                  <a:lnTo>
                    <a:pt x="479742" y="27749"/>
                  </a:lnTo>
                  <a:lnTo>
                    <a:pt x="500046" y="57864"/>
                  </a:lnTo>
                  <a:lnTo>
                    <a:pt x="507491" y="94742"/>
                  </a:lnTo>
                  <a:lnTo>
                    <a:pt x="507491" y="412750"/>
                  </a:lnTo>
                  <a:lnTo>
                    <a:pt x="500046" y="449627"/>
                  </a:lnTo>
                  <a:lnTo>
                    <a:pt x="479742" y="479742"/>
                  </a:lnTo>
                  <a:lnTo>
                    <a:pt x="449627" y="500046"/>
                  </a:lnTo>
                  <a:lnTo>
                    <a:pt x="412750" y="507492"/>
                  </a:lnTo>
                  <a:lnTo>
                    <a:pt x="94741" y="507492"/>
                  </a:lnTo>
                  <a:lnTo>
                    <a:pt x="57864" y="500046"/>
                  </a:lnTo>
                  <a:lnTo>
                    <a:pt x="27749" y="479742"/>
                  </a:lnTo>
                  <a:lnTo>
                    <a:pt x="7445" y="449627"/>
                  </a:lnTo>
                  <a:lnTo>
                    <a:pt x="0" y="412750"/>
                  </a:lnTo>
                  <a:lnTo>
                    <a:pt x="0" y="94742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790955" y="5582411"/>
            <a:ext cx="516890" cy="516890"/>
            <a:chOff x="790955" y="5582411"/>
            <a:chExt cx="516890" cy="516890"/>
          </a:xfrm>
        </p:grpSpPr>
        <p:sp>
          <p:nvSpPr>
            <p:cNvPr id="10" name="object 10" descr=""/>
            <p:cNvSpPr/>
            <p:nvPr/>
          </p:nvSpPr>
          <p:spPr>
            <a:xfrm>
              <a:off x="795527" y="5586983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412750" y="0"/>
                  </a:moveTo>
                  <a:lnTo>
                    <a:pt x="94741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2"/>
                  </a:lnTo>
                  <a:lnTo>
                    <a:pt x="0" y="412750"/>
                  </a:lnTo>
                  <a:lnTo>
                    <a:pt x="7445" y="449627"/>
                  </a:lnTo>
                  <a:lnTo>
                    <a:pt x="27749" y="479742"/>
                  </a:lnTo>
                  <a:lnTo>
                    <a:pt x="57864" y="500046"/>
                  </a:lnTo>
                  <a:lnTo>
                    <a:pt x="94741" y="507492"/>
                  </a:lnTo>
                  <a:lnTo>
                    <a:pt x="412750" y="507492"/>
                  </a:lnTo>
                  <a:lnTo>
                    <a:pt x="449627" y="500046"/>
                  </a:lnTo>
                  <a:lnTo>
                    <a:pt x="479742" y="479742"/>
                  </a:lnTo>
                  <a:lnTo>
                    <a:pt x="500046" y="449627"/>
                  </a:lnTo>
                  <a:lnTo>
                    <a:pt x="507491" y="412750"/>
                  </a:lnTo>
                  <a:lnTo>
                    <a:pt x="507491" y="94742"/>
                  </a:lnTo>
                  <a:lnTo>
                    <a:pt x="500046" y="57864"/>
                  </a:lnTo>
                  <a:lnTo>
                    <a:pt x="479742" y="27749"/>
                  </a:lnTo>
                  <a:lnTo>
                    <a:pt x="449627" y="7445"/>
                  </a:lnTo>
                  <a:lnTo>
                    <a:pt x="412750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5527" y="5586983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0" y="94742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1" y="0"/>
                  </a:lnTo>
                  <a:lnTo>
                    <a:pt x="412750" y="0"/>
                  </a:lnTo>
                  <a:lnTo>
                    <a:pt x="449627" y="7445"/>
                  </a:lnTo>
                  <a:lnTo>
                    <a:pt x="479742" y="27749"/>
                  </a:lnTo>
                  <a:lnTo>
                    <a:pt x="500046" y="57864"/>
                  </a:lnTo>
                  <a:lnTo>
                    <a:pt x="507491" y="94742"/>
                  </a:lnTo>
                  <a:lnTo>
                    <a:pt x="507491" y="412750"/>
                  </a:lnTo>
                  <a:lnTo>
                    <a:pt x="500046" y="449627"/>
                  </a:lnTo>
                  <a:lnTo>
                    <a:pt x="479742" y="479742"/>
                  </a:lnTo>
                  <a:lnTo>
                    <a:pt x="449627" y="500046"/>
                  </a:lnTo>
                  <a:lnTo>
                    <a:pt x="412750" y="507492"/>
                  </a:lnTo>
                  <a:lnTo>
                    <a:pt x="94741" y="507492"/>
                  </a:lnTo>
                  <a:lnTo>
                    <a:pt x="57864" y="500046"/>
                  </a:lnTo>
                  <a:lnTo>
                    <a:pt x="27749" y="479742"/>
                  </a:lnTo>
                  <a:lnTo>
                    <a:pt x="7445" y="449627"/>
                  </a:lnTo>
                  <a:lnTo>
                    <a:pt x="0" y="412750"/>
                  </a:lnTo>
                  <a:lnTo>
                    <a:pt x="0" y="94742"/>
                  </a:lnTo>
                  <a:close/>
                </a:path>
              </a:pathLst>
            </a:custGeom>
            <a:ln w="9143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518666" y="2828670"/>
            <a:ext cx="11957050" cy="36779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DFD5DE"/>
                </a:solidFill>
                <a:latin typeface="Arial"/>
                <a:cs typeface="Arial"/>
              </a:rPr>
              <a:t>Information</a:t>
            </a:r>
            <a:r>
              <a:rPr dirty="0" sz="2300" spc="-8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Overload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750" spc="50">
                <a:solidFill>
                  <a:srgbClr val="DFD5DE"/>
                </a:solidFill>
                <a:latin typeface="Verdana"/>
                <a:cs typeface="Verdana"/>
              </a:rPr>
              <a:t>Job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seekers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face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a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vast,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unorganized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sea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of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information,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making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it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hard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 to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find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relevant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opportunities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advice.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300" spc="-20" b="1">
                <a:solidFill>
                  <a:srgbClr val="DFD5DE"/>
                </a:solidFill>
                <a:latin typeface="Arial"/>
                <a:cs typeface="Arial"/>
              </a:rPr>
              <a:t>Lack</a:t>
            </a:r>
            <a:r>
              <a:rPr dirty="0" sz="2300" spc="-9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DFD5DE"/>
                </a:solidFill>
                <a:latin typeface="Arial"/>
                <a:cs typeface="Arial"/>
              </a:rPr>
              <a:t>of</a:t>
            </a:r>
            <a:r>
              <a:rPr dirty="0" sz="2300" spc="-5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Personalization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Generic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advice</a:t>
            </a:r>
            <a:r>
              <a:rPr dirty="0" sz="1750" spc="-17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often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fails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address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individual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skills,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goals,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market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demands.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300" spc="-65" b="1">
                <a:solidFill>
                  <a:srgbClr val="DFD5DE"/>
                </a:solidFill>
                <a:latin typeface="Arial"/>
                <a:cs typeface="Arial"/>
              </a:rPr>
              <a:t>Skill-</a:t>
            </a:r>
            <a:r>
              <a:rPr dirty="0" sz="2300" spc="-180" b="1">
                <a:solidFill>
                  <a:srgbClr val="DFD5DE"/>
                </a:solidFill>
                <a:latin typeface="Arial"/>
                <a:cs typeface="Arial"/>
              </a:rPr>
              <a:t>Job</a:t>
            </a:r>
            <a:r>
              <a:rPr dirty="0" sz="2300" spc="-10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Mismatch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Many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struggle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identify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in-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demand</a:t>
            </a:r>
            <a:r>
              <a:rPr dirty="0" sz="1750" spc="-2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skills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or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how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their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existing</a:t>
            </a:r>
            <a:r>
              <a:rPr dirty="0" sz="1750" spc="-1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abilities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align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with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potential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careers.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912951"/>
            <a:ext cx="11938000" cy="734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Our</a:t>
            </a:r>
            <a:r>
              <a:rPr dirty="0" spc="-114"/>
              <a:t> </a:t>
            </a:r>
            <a:r>
              <a:rPr dirty="0" spc="-25"/>
              <a:t>Solution:</a:t>
            </a:r>
            <a:r>
              <a:rPr dirty="0" spc="-254"/>
              <a:t> </a:t>
            </a:r>
            <a:r>
              <a:rPr dirty="0" spc="-80"/>
              <a:t>AI-</a:t>
            </a:r>
            <a:r>
              <a:rPr dirty="0"/>
              <a:t>Powered</a:t>
            </a:r>
            <a:r>
              <a:rPr dirty="0" spc="-70"/>
              <a:t> </a:t>
            </a:r>
            <a:r>
              <a:rPr dirty="0" spc="-20"/>
              <a:t>Career</a:t>
            </a:r>
            <a:r>
              <a:rPr dirty="0" spc="-285"/>
              <a:t> </a:t>
            </a:r>
            <a:r>
              <a:rPr dirty="0" spc="-10"/>
              <a:t>Guidance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27" y="2039111"/>
            <a:ext cx="566928" cy="56692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31950" y="2141677"/>
            <a:ext cx="5397500" cy="1242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DFD5DE"/>
                </a:solidFill>
                <a:latin typeface="Arial"/>
                <a:cs typeface="Arial"/>
              </a:rPr>
              <a:t>AI</a:t>
            </a:r>
            <a:r>
              <a:rPr dirty="0" sz="2300" spc="-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Chatbot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Instant,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personalized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advice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answers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your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questions.</a:t>
            </a:r>
            <a:endParaRPr sz="17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6931" y="2039111"/>
            <a:ext cx="566927" cy="5669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527" y="3973067"/>
            <a:ext cx="566928" cy="5669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931" y="3973067"/>
            <a:ext cx="566927" cy="566927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297418" y="2141677"/>
            <a:ext cx="5455285" cy="3179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65" b="1">
                <a:solidFill>
                  <a:srgbClr val="DFD5DE"/>
                </a:solidFill>
                <a:latin typeface="Arial"/>
                <a:cs typeface="Arial"/>
              </a:rPr>
              <a:t>Resume</a:t>
            </a:r>
            <a:r>
              <a:rPr dirty="0" sz="2300" spc="-5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Analyzer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Optimize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your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resume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with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AI-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driven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feedback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better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job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matching.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300" spc="-175" b="1">
                <a:solidFill>
                  <a:srgbClr val="DFD5DE"/>
                </a:solidFill>
                <a:latin typeface="Arial"/>
                <a:cs typeface="Arial"/>
              </a:rPr>
              <a:t>Job</a:t>
            </a:r>
            <a:r>
              <a:rPr dirty="0" sz="2300" spc="-4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Prediction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Receive</a:t>
            </a:r>
            <a:r>
              <a:rPr dirty="0" sz="1750" spc="-2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tailored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recommendations</a:t>
            </a:r>
            <a:r>
              <a:rPr dirty="0" sz="1750" spc="-17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based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on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your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skills.</a:t>
            </a:r>
            <a:endParaRPr sz="17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527" y="5907023"/>
            <a:ext cx="566928" cy="56692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631950" y="4078300"/>
            <a:ext cx="5445125" cy="3179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0" b="1">
                <a:solidFill>
                  <a:srgbClr val="DFD5DE"/>
                </a:solidFill>
                <a:latin typeface="Arial"/>
                <a:cs typeface="Arial"/>
              </a:rPr>
              <a:t>Networking</a:t>
            </a:r>
            <a:r>
              <a:rPr dirty="0" sz="2300" spc="-6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Tools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Connect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with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professionals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discover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relevant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events.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300" spc="-55" b="1">
                <a:solidFill>
                  <a:srgbClr val="DFD5DE"/>
                </a:solidFill>
                <a:latin typeface="Arial"/>
                <a:cs typeface="Arial"/>
              </a:rPr>
              <a:t>YouTube</a:t>
            </a:r>
            <a:r>
              <a:rPr dirty="0" sz="2300" spc="-9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Integration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39000"/>
              </a:lnSpc>
              <a:spcBef>
                <a:spcPts val="975"/>
              </a:spcBef>
            </a:pP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Access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curated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video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content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 skill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development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industry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insights.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83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5" b="0">
                <a:latin typeface="Malgun Gothic Semilight"/>
                <a:cs typeface="Malgun Gothic Semilight"/>
              </a:rPr>
              <a:t>Target</a:t>
            </a:r>
            <a:r>
              <a:rPr dirty="0" spc="45" b="0">
                <a:latin typeface="Malgun Gothic Semilight"/>
                <a:cs typeface="Malgun Gothic Semilight"/>
              </a:rPr>
              <a:t> </a:t>
            </a:r>
            <a:r>
              <a:rPr dirty="0" spc="160" b="0">
                <a:latin typeface="Malgun Gothic Semilight"/>
                <a:cs typeface="Malgun Gothic Semilight"/>
              </a:rPr>
              <a:t>Audience:</a:t>
            </a:r>
            <a:r>
              <a:rPr dirty="0" spc="500" b="0">
                <a:latin typeface="Malgun Gothic Semilight"/>
                <a:cs typeface="Malgun Gothic Semilight"/>
              </a:rPr>
              <a:t> </a:t>
            </a:r>
            <a:r>
              <a:rPr dirty="0" spc="70" b="0">
                <a:latin typeface="Malgun Gothic Semilight"/>
                <a:cs typeface="Malgun Gothic Semilight"/>
              </a:rPr>
              <a:t>As</a:t>
            </a:r>
            <a:r>
              <a:rPr dirty="0" spc="-675" b="0">
                <a:latin typeface="Malgun Gothic Semilight"/>
                <a:cs typeface="Malgun Gothic Semilight"/>
              </a:rPr>
              <a:t> </a:t>
            </a:r>
            <a:r>
              <a:rPr dirty="0" spc="150" b="0">
                <a:latin typeface="Malgun Gothic Semilight"/>
                <a:cs typeface="Malgun Gothic Semilight"/>
              </a:rPr>
              <a:t>piring</a:t>
            </a:r>
            <a:r>
              <a:rPr dirty="0" spc="229" b="0">
                <a:latin typeface="Malgun Gothic Semilight"/>
                <a:cs typeface="Malgun Gothic Semilight"/>
              </a:rPr>
              <a:t> </a:t>
            </a:r>
            <a:r>
              <a:rPr dirty="0" spc="135" b="0">
                <a:latin typeface="Malgun Gothic Semilight"/>
                <a:cs typeface="Malgun Gothic Semilight"/>
              </a:rPr>
              <a:t>Profes</a:t>
            </a:r>
            <a:r>
              <a:rPr dirty="0" spc="-630" b="0">
                <a:latin typeface="Malgun Gothic Semilight"/>
                <a:cs typeface="Malgun Gothic Semilight"/>
              </a:rPr>
              <a:t> </a:t>
            </a:r>
            <a:r>
              <a:rPr dirty="0" b="0">
                <a:latin typeface="Malgun Gothic Semilight"/>
                <a:cs typeface="Malgun Gothic Semilight"/>
              </a:rPr>
              <a:t>s</a:t>
            </a:r>
            <a:r>
              <a:rPr dirty="0" spc="-670" b="0">
                <a:latin typeface="Malgun Gothic Semilight"/>
                <a:cs typeface="Malgun Gothic Semilight"/>
              </a:rPr>
              <a:t> </a:t>
            </a:r>
            <a:r>
              <a:rPr dirty="0" spc="150" b="0">
                <a:latin typeface="Malgun Gothic Semilight"/>
                <a:cs typeface="Malgun Gothic Semilight"/>
              </a:rPr>
              <a:t>ionals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3200857"/>
            <a:ext cx="6082030" cy="2885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35405" algn="l"/>
              </a:tabLst>
            </a:pPr>
            <a:r>
              <a:rPr dirty="0" sz="2300" spc="60">
                <a:solidFill>
                  <a:srgbClr val="FF89AE"/>
                </a:solidFill>
                <a:latin typeface="Malgun Gothic Semilight"/>
                <a:cs typeface="Malgun Gothic Semilight"/>
              </a:rPr>
              <a:t>Students</a:t>
            </a:r>
            <a:r>
              <a:rPr dirty="0" sz="2300">
                <a:solidFill>
                  <a:srgbClr val="FF89AE"/>
                </a:solidFill>
                <a:latin typeface="Malgun Gothic Semilight"/>
                <a:cs typeface="Malgun Gothic Semilight"/>
              </a:rPr>
              <a:t>	&amp;</a:t>
            </a:r>
            <a:r>
              <a:rPr dirty="0" sz="2300" spc="-5">
                <a:solidFill>
                  <a:srgbClr val="FF89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-10">
                <a:solidFill>
                  <a:srgbClr val="FF89AE"/>
                </a:solidFill>
                <a:latin typeface="Malgun Gothic Semilight"/>
                <a:cs typeface="Malgun Gothic Semilight"/>
              </a:rPr>
              <a:t>Graduates</a:t>
            </a:r>
            <a:endParaRPr sz="23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Seeking</a:t>
            </a:r>
            <a:r>
              <a:rPr dirty="0" sz="1750" spc="-1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entry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into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the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workforce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guidance</a:t>
            </a:r>
            <a:r>
              <a:rPr dirty="0" sz="1750" spc="-1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on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initial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paths.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dirty="0" sz="2300" spc="50">
                <a:solidFill>
                  <a:srgbClr val="FF89AE"/>
                </a:solidFill>
                <a:latin typeface="Malgun Gothic Semilight"/>
                <a:cs typeface="Malgun Gothic Semilight"/>
              </a:rPr>
              <a:t>Career</a:t>
            </a:r>
            <a:r>
              <a:rPr dirty="0" sz="2300" spc="265">
                <a:solidFill>
                  <a:srgbClr val="FF89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45">
                <a:solidFill>
                  <a:srgbClr val="FF89AE"/>
                </a:solidFill>
                <a:latin typeface="Malgun Gothic Semilight"/>
                <a:cs typeface="Malgun Gothic Semilight"/>
              </a:rPr>
              <a:t>Changers</a:t>
            </a:r>
            <a:endParaRPr sz="23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Individuals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looking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transition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new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industries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or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roles,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requiring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skill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assessment</a:t>
            </a:r>
            <a:r>
              <a:rPr dirty="0" sz="1750" spc="-2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new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opportunities.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89266" y="3200857"/>
            <a:ext cx="5640705" cy="2885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solidFill>
                  <a:srgbClr val="FF89AE"/>
                </a:solidFill>
                <a:latin typeface="Malgun Gothic Semilight"/>
                <a:cs typeface="Malgun Gothic Semilight"/>
              </a:rPr>
              <a:t>Job</a:t>
            </a:r>
            <a:r>
              <a:rPr dirty="0" sz="2300" spc="20">
                <a:solidFill>
                  <a:srgbClr val="FF89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65">
                <a:solidFill>
                  <a:srgbClr val="FF89AE"/>
                </a:solidFill>
                <a:latin typeface="Malgun Gothic Semilight"/>
                <a:cs typeface="Malgun Gothic Semilight"/>
              </a:rPr>
              <a:t>Seekers</a:t>
            </a:r>
            <a:endParaRPr sz="23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Actively</a:t>
            </a:r>
            <a:r>
              <a:rPr dirty="0" sz="1750" spc="-1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searching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employment,</a:t>
            </a:r>
            <a:r>
              <a:rPr dirty="0" sz="1750" spc="-1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needing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resume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optimization,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interview</a:t>
            </a:r>
            <a:r>
              <a:rPr dirty="0" sz="1750" spc="-1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prep,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job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matching.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dirty="0" sz="2300" spc="60">
                <a:solidFill>
                  <a:srgbClr val="FF89AE"/>
                </a:solidFill>
                <a:latin typeface="Malgun Gothic Semilight"/>
                <a:cs typeface="Malgun Gothic Semilight"/>
              </a:rPr>
              <a:t>Profes</a:t>
            </a:r>
            <a:r>
              <a:rPr dirty="0" sz="2300" spc="-345">
                <a:solidFill>
                  <a:srgbClr val="FF89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>
                <a:solidFill>
                  <a:srgbClr val="FF89AE"/>
                </a:solidFill>
                <a:latin typeface="Malgun Gothic Semilight"/>
                <a:cs typeface="Malgun Gothic Semilight"/>
              </a:rPr>
              <a:t>s</a:t>
            </a:r>
            <a:r>
              <a:rPr dirty="0" sz="2300" spc="-345">
                <a:solidFill>
                  <a:srgbClr val="FF89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50">
                <a:solidFill>
                  <a:srgbClr val="FF89AE"/>
                </a:solidFill>
                <a:latin typeface="Malgun Gothic Semilight"/>
                <a:cs typeface="Malgun Gothic Semilight"/>
              </a:rPr>
              <a:t>ionals</a:t>
            </a:r>
            <a:endParaRPr sz="23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Aiming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advancement,</a:t>
            </a:r>
            <a:r>
              <a:rPr dirty="0" sz="1750" spc="-1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networking,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skill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development.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85" b="0">
                <a:latin typeface="Malgun Gothic Semilight"/>
                <a:cs typeface="Malgun Gothic Semilight"/>
              </a:rPr>
              <a:t>Feas</a:t>
            </a:r>
            <a:r>
              <a:rPr dirty="0" spc="-705" b="0">
                <a:latin typeface="Malgun Gothic Semilight"/>
                <a:cs typeface="Malgun Gothic Semilight"/>
              </a:rPr>
              <a:t> </a:t>
            </a:r>
            <a:r>
              <a:rPr dirty="0" spc="125" b="0">
                <a:latin typeface="Malgun Gothic Semilight"/>
                <a:cs typeface="Malgun Gothic Semilight"/>
              </a:rPr>
              <a:t>ibility:</a:t>
            </a:r>
            <a:r>
              <a:rPr dirty="0" spc="355" b="0">
                <a:latin typeface="Malgun Gothic Semilight"/>
                <a:cs typeface="Malgun Gothic Semilight"/>
              </a:rPr>
              <a:t> </a:t>
            </a:r>
            <a:r>
              <a:rPr dirty="0" spc="110" b="0">
                <a:latin typeface="Malgun Gothic Semilight"/>
                <a:cs typeface="Malgun Gothic Semilight"/>
              </a:rPr>
              <a:t>Technology</a:t>
            </a:r>
            <a:r>
              <a:rPr dirty="0" spc="-100" b="0">
                <a:latin typeface="Malgun Gothic Semilight"/>
                <a:cs typeface="Malgun Gothic Semilight"/>
              </a:rPr>
              <a:t> </a:t>
            </a:r>
            <a:r>
              <a:rPr dirty="0" b="0">
                <a:latin typeface="Malgun Gothic Semilight"/>
                <a:cs typeface="Malgun Gothic Semilight"/>
              </a:rPr>
              <a:t>&amp;</a:t>
            </a:r>
            <a:r>
              <a:rPr dirty="0" spc="5" b="0">
                <a:latin typeface="Malgun Gothic Semilight"/>
                <a:cs typeface="Malgun Gothic Semilight"/>
              </a:rPr>
              <a:t> </a:t>
            </a:r>
            <a:r>
              <a:rPr dirty="0" spc="85" b="0">
                <a:latin typeface="Malgun Gothic Semilight"/>
                <a:cs typeface="Malgun Gothic Semilight"/>
              </a:rPr>
              <a:t>Implementation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0955" y="2441448"/>
            <a:ext cx="233679" cy="1371600"/>
            <a:chOff x="790955" y="2441448"/>
            <a:chExt cx="233679" cy="1371600"/>
          </a:xfrm>
        </p:grpSpPr>
        <p:sp>
          <p:nvSpPr>
            <p:cNvPr id="4" name="object 4" descr=""/>
            <p:cNvSpPr/>
            <p:nvPr/>
          </p:nvSpPr>
          <p:spPr>
            <a:xfrm>
              <a:off x="795527" y="2446020"/>
              <a:ext cx="224154" cy="1362710"/>
            </a:xfrm>
            <a:custGeom>
              <a:avLst/>
              <a:gdLst/>
              <a:ahLst/>
              <a:cxnLst/>
              <a:rect l="l" t="t" r="r" b="b"/>
              <a:pathLst>
                <a:path w="224155" h="1362710">
                  <a:moveTo>
                    <a:pt x="129933" y="0"/>
                  </a:moveTo>
                  <a:lnTo>
                    <a:pt x="94094" y="0"/>
                  </a:lnTo>
                  <a:lnTo>
                    <a:pt x="57467" y="7399"/>
                  </a:lnTo>
                  <a:lnTo>
                    <a:pt x="27559" y="27574"/>
                  </a:lnTo>
                  <a:lnTo>
                    <a:pt x="7394" y="57489"/>
                  </a:lnTo>
                  <a:lnTo>
                    <a:pt x="0" y="94106"/>
                  </a:lnTo>
                  <a:lnTo>
                    <a:pt x="0" y="1268349"/>
                  </a:lnTo>
                  <a:lnTo>
                    <a:pt x="7394" y="1304966"/>
                  </a:lnTo>
                  <a:lnTo>
                    <a:pt x="27559" y="1334881"/>
                  </a:lnTo>
                  <a:lnTo>
                    <a:pt x="57467" y="1355056"/>
                  </a:lnTo>
                  <a:lnTo>
                    <a:pt x="94094" y="1362455"/>
                  </a:lnTo>
                  <a:lnTo>
                    <a:pt x="129933" y="1362455"/>
                  </a:lnTo>
                  <a:lnTo>
                    <a:pt x="166560" y="1355056"/>
                  </a:lnTo>
                  <a:lnTo>
                    <a:pt x="196469" y="1334881"/>
                  </a:lnTo>
                  <a:lnTo>
                    <a:pt x="216633" y="1304966"/>
                  </a:lnTo>
                  <a:lnTo>
                    <a:pt x="224028" y="1268349"/>
                  </a:lnTo>
                  <a:lnTo>
                    <a:pt x="224028" y="94106"/>
                  </a:lnTo>
                  <a:lnTo>
                    <a:pt x="216633" y="57489"/>
                  </a:lnTo>
                  <a:lnTo>
                    <a:pt x="196468" y="27574"/>
                  </a:lnTo>
                  <a:lnTo>
                    <a:pt x="166560" y="7399"/>
                  </a:lnTo>
                  <a:lnTo>
                    <a:pt x="129933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5527" y="2446020"/>
              <a:ext cx="224154" cy="1362710"/>
            </a:xfrm>
            <a:custGeom>
              <a:avLst/>
              <a:gdLst/>
              <a:ahLst/>
              <a:cxnLst/>
              <a:rect l="l" t="t" r="r" b="b"/>
              <a:pathLst>
                <a:path w="224155" h="1362710">
                  <a:moveTo>
                    <a:pt x="0" y="94106"/>
                  </a:moveTo>
                  <a:lnTo>
                    <a:pt x="7394" y="57489"/>
                  </a:lnTo>
                  <a:lnTo>
                    <a:pt x="27559" y="27574"/>
                  </a:lnTo>
                  <a:lnTo>
                    <a:pt x="57467" y="7399"/>
                  </a:lnTo>
                  <a:lnTo>
                    <a:pt x="94094" y="0"/>
                  </a:lnTo>
                  <a:lnTo>
                    <a:pt x="129933" y="0"/>
                  </a:lnTo>
                  <a:lnTo>
                    <a:pt x="166560" y="7399"/>
                  </a:lnTo>
                  <a:lnTo>
                    <a:pt x="196468" y="27574"/>
                  </a:lnTo>
                  <a:lnTo>
                    <a:pt x="216633" y="57489"/>
                  </a:lnTo>
                  <a:lnTo>
                    <a:pt x="224028" y="94106"/>
                  </a:lnTo>
                  <a:lnTo>
                    <a:pt x="224028" y="1268349"/>
                  </a:lnTo>
                  <a:lnTo>
                    <a:pt x="216633" y="1304966"/>
                  </a:lnTo>
                  <a:lnTo>
                    <a:pt x="196469" y="1334881"/>
                  </a:lnTo>
                  <a:lnTo>
                    <a:pt x="166560" y="1355056"/>
                  </a:lnTo>
                  <a:lnTo>
                    <a:pt x="129933" y="1362455"/>
                  </a:lnTo>
                  <a:lnTo>
                    <a:pt x="94094" y="1362455"/>
                  </a:lnTo>
                  <a:lnTo>
                    <a:pt x="57467" y="1355056"/>
                  </a:lnTo>
                  <a:lnTo>
                    <a:pt x="27559" y="1334881"/>
                  </a:lnTo>
                  <a:lnTo>
                    <a:pt x="7394" y="1304966"/>
                  </a:lnTo>
                  <a:lnTo>
                    <a:pt x="0" y="1268349"/>
                  </a:lnTo>
                  <a:lnTo>
                    <a:pt x="0" y="94106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1129283" y="3973067"/>
            <a:ext cx="238125" cy="1367155"/>
            <a:chOff x="1129283" y="3973067"/>
            <a:chExt cx="238125" cy="1367155"/>
          </a:xfrm>
        </p:grpSpPr>
        <p:sp>
          <p:nvSpPr>
            <p:cNvPr id="7" name="object 7" descr=""/>
            <p:cNvSpPr/>
            <p:nvPr/>
          </p:nvSpPr>
          <p:spPr>
            <a:xfrm>
              <a:off x="1133855" y="3977639"/>
              <a:ext cx="228600" cy="1358265"/>
            </a:xfrm>
            <a:custGeom>
              <a:avLst/>
              <a:gdLst/>
              <a:ahLst/>
              <a:cxnLst/>
              <a:rect l="l" t="t" r="r" b="b"/>
              <a:pathLst>
                <a:path w="228600" h="1358264">
                  <a:moveTo>
                    <a:pt x="132575" y="0"/>
                  </a:moveTo>
                  <a:lnTo>
                    <a:pt x="96024" y="0"/>
                  </a:lnTo>
                  <a:lnTo>
                    <a:pt x="58646" y="7536"/>
                  </a:lnTo>
                  <a:lnTo>
                    <a:pt x="28124" y="28098"/>
                  </a:lnTo>
                  <a:lnTo>
                    <a:pt x="7545" y="58614"/>
                  </a:lnTo>
                  <a:lnTo>
                    <a:pt x="0" y="96012"/>
                  </a:lnTo>
                  <a:lnTo>
                    <a:pt x="0" y="1261872"/>
                  </a:lnTo>
                  <a:lnTo>
                    <a:pt x="7545" y="1299269"/>
                  </a:lnTo>
                  <a:lnTo>
                    <a:pt x="28124" y="1329785"/>
                  </a:lnTo>
                  <a:lnTo>
                    <a:pt x="58646" y="1350347"/>
                  </a:lnTo>
                  <a:lnTo>
                    <a:pt x="96024" y="1357884"/>
                  </a:lnTo>
                  <a:lnTo>
                    <a:pt x="132575" y="1357884"/>
                  </a:lnTo>
                  <a:lnTo>
                    <a:pt x="169980" y="1350347"/>
                  </a:lnTo>
                  <a:lnTo>
                    <a:pt x="200499" y="1329785"/>
                  </a:lnTo>
                  <a:lnTo>
                    <a:pt x="221063" y="1299269"/>
                  </a:lnTo>
                  <a:lnTo>
                    <a:pt x="228600" y="1261872"/>
                  </a:lnTo>
                  <a:lnTo>
                    <a:pt x="228600" y="96012"/>
                  </a:lnTo>
                  <a:lnTo>
                    <a:pt x="221063" y="58614"/>
                  </a:lnTo>
                  <a:lnTo>
                    <a:pt x="200499" y="28098"/>
                  </a:lnTo>
                  <a:lnTo>
                    <a:pt x="169980" y="7536"/>
                  </a:lnTo>
                  <a:lnTo>
                    <a:pt x="132575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33855" y="3977639"/>
              <a:ext cx="228600" cy="1358265"/>
            </a:xfrm>
            <a:custGeom>
              <a:avLst/>
              <a:gdLst/>
              <a:ahLst/>
              <a:cxnLst/>
              <a:rect l="l" t="t" r="r" b="b"/>
              <a:pathLst>
                <a:path w="228600" h="1358264">
                  <a:moveTo>
                    <a:pt x="0" y="96012"/>
                  </a:moveTo>
                  <a:lnTo>
                    <a:pt x="7545" y="58614"/>
                  </a:lnTo>
                  <a:lnTo>
                    <a:pt x="28124" y="28098"/>
                  </a:lnTo>
                  <a:lnTo>
                    <a:pt x="58646" y="7536"/>
                  </a:lnTo>
                  <a:lnTo>
                    <a:pt x="96024" y="0"/>
                  </a:lnTo>
                  <a:lnTo>
                    <a:pt x="132575" y="0"/>
                  </a:lnTo>
                  <a:lnTo>
                    <a:pt x="169980" y="7536"/>
                  </a:lnTo>
                  <a:lnTo>
                    <a:pt x="200499" y="28098"/>
                  </a:lnTo>
                  <a:lnTo>
                    <a:pt x="221063" y="58614"/>
                  </a:lnTo>
                  <a:lnTo>
                    <a:pt x="228600" y="96012"/>
                  </a:lnTo>
                  <a:lnTo>
                    <a:pt x="228600" y="1261872"/>
                  </a:lnTo>
                  <a:lnTo>
                    <a:pt x="221063" y="1299269"/>
                  </a:lnTo>
                  <a:lnTo>
                    <a:pt x="200499" y="1329785"/>
                  </a:lnTo>
                  <a:lnTo>
                    <a:pt x="169980" y="1350347"/>
                  </a:lnTo>
                  <a:lnTo>
                    <a:pt x="132575" y="1357884"/>
                  </a:lnTo>
                  <a:lnTo>
                    <a:pt x="96024" y="1357884"/>
                  </a:lnTo>
                  <a:lnTo>
                    <a:pt x="58646" y="1350347"/>
                  </a:lnTo>
                  <a:lnTo>
                    <a:pt x="28124" y="1329785"/>
                  </a:lnTo>
                  <a:lnTo>
                    <a:pt x="7545" y="1299269"/>
                  </a:lnTo>
                  <a:lnTo>
                    <a:pt x="0" y="1261872"/>
                  </a:lnTo>
                  <a:lnTo>
                    <a:pt x="0" y="96012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467611" y="5504688"/>
            <a:ext cx="238125" cy="1367155"/>
            <a:chOff x="1467611" y="5504688"/>
            <a:chExt cx="238125" cy="1367155"/>
          </a:xfrm>
        </p:grpSpPr>
        <p:sp>
          <p:nvSpPr>
            <p:cNvPr id="10" name="object 10" descr=""/>
            <p:cNvSpPr/>
            <p:nvPr/>
          </p:nvSpPr>
          <p:spPr>
            <a:xfrm>
              <a:off x="1472183" y="5509260"/>
              <a:ext cx="228600" cy="1358265"/>
            </a:xfrm>
            <a:custGeom>
              <a:avLst/>
              <a:gdLst/>
              <a:ahLst/>
              <a:cxnLst/>
              <a:rect l="l" t="t" r="r" b="b"/>
              <a:pathLst>
                <a:path w="228600" h="1358265">
                  <a:moveTo>
                    <a:pt x="132587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1261871"/>
                  </a:lnTo>
                  <a:lnTo>
                    <a:pt x="7536" y="1299269"/>
                  </a:lnTo>
                  <a:lnTo>
                    <a:pt x="28098" y="1329785"/>
                  </a:lnTo>
                  <a:lnTo>
                    <a:pt x="58614" y="1350347"/>
                  </a:lnTo>
                  <a:lnTo>
                    <a:pt x="96012" y="1357883"/>
                  </a:lnTo>
                  <a:lnTo>
                    <a:pt x="132587" y="1357883"/>
                  </a:lnTo>
                  <a:lnTo>
                    <a:pt x="169985" y="1350347"/>
                  </a:lnTo>
                  <a:lnTo>
                    <a:pt x="200501" y="1329785"/>
                  </a:lnTo>
                  <a:lnTo>
                    <a:pt x="221063" y="1299269"/>
                  </a:lnTo>
                  <a:lnTo>
                    <a:pt x="228599" y="1261871"/>
                  </a:lnTo>
                  <a:lnTo>
                    <a:pt x="228599" y="96012"/>
                  </a:lnTo>
                  <a:lnTo>
                    <a:pt x="221063" y="58614"/>
                  </a:lnTo>
                  <a:lnTo>
                    <a:pt x="200501" y="28098"/>
                  </a:lnTo>
                  <a:lnTo>
                    <a:pt x="169985" y="7536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72183" y="5509260"/>
              <a:ext cx="228600" cy="1358265"/>
            </a:xfrm>
            <a:custGeom>
              <a:avLst/>
              <a:gdLst/>
              <a:ahLst/>
              <a:cxnLst/>
              <a:rect l="l" t="t" r="r" b="b"/>
              <a:pathLst>
                <a:path w="228600" h="1358265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132587" y="0"/>
                  </a:lnTo>
                  <a:lnTo>
                    <a:pt x="169985" y="7536"/>
                  </a:lnTo>
                  <a:lnTo>
                    <a:pt x="200501" y="28098"/>
                  </a:lnTo>
                  <a:lnTo>
                    <a:pt x="221063" y="58614"/>
                  </a:lnTo>
                  <a:lnTo>
                    <a:pt x="228599" y="96012"/>
                  </a:lnTo>
                  <a:lnTo>
                    <a:pt x="228599" y="1261871"/>
                  </a:lnTo>
                  <a:lnTo>
                    <a:pt x="221063" y="1299269"/>
                  </a:lnTo>
                  <a:lnTo>
                    <a:pt x="200501" y="1329785"/>
                  </a:lnTo>
                  <a:lnTo>
                    <a:pt x="169985" y="1350347"/>
                  </a:lnTo>
                  <a:lnTo>
                    <a:pt x="132587" y="1357883"/>
                  </a:lnTo>
                  <a:lnTo>
                    <a:pt x="96012" y="1357883"/>
                  </a:lnTo>
                  <a:lnTo>
                    <a:pt x="58614" y="1350347"/>
                  </a:lnTo>
                  <a:lnTo>
                    <a:pt x="28098" y="1329785"/>
                  </a:lnTo>
                  <a:lnTo>
                    <a:pt x="7536" y="1299269"/>
                  </a:lnTo>
                  <a:lnTo>
                    <a:pt x="0" y="1261871"/>
                  </a:lnTo>
                  <a:lnTo>
                    <a:pt x="0" y="96012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235151" y="2642692"/>
            <a:ext cx="10076815" cy="39357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>
                <a:solidFill>
                  <a:srgbClr val="DFD5DE"/>
                </a:solidFill>
                <a:latin typeface="Malgun Gothic Semilight"/>
                <a:cs typeface="Malgun Gothic Semilight"/>
              </a:rPr>
              <a:t>AI</a:t>
            </a:r>
            <a:r>
              <a:rPr dirty="0" sz="2300" spc="200">
                <a:solidFill>
                  <a:srgbClr val="DFD5D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>
                <a:solidFill>
                  <a:srgbClr val="DFD5DE"/>
                </a:solidFill>
                <a:latin typeface="Malgun Gothic Semilight"/>
                <a:cs typeface="Malgun Gothic Semilight"/>
              </a:rPr>
              <a:t>&amp;</a:t>
            </a:r>
            <a:r>
              <a:rPr dirty="0" sz="2300" spc="-20">
                <a:solidFill>
                  <a:srgbClr val="DFD5D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>
                <a:solidFill>
                  <a:srgbClr val="DFD5DE"/>
                </a:solidFill>
                <a:latin typeface="Malgun Gothic Semilight"/>
                <a:cs typeface="Malgun Gothic Semilight"/>
              </a:rPr>
              <a:t>ML</a:t>
            </a:r>
            <a:r>
              <a:rPr dirty="0" sz="2300" spc="150">
                <a:solidFill>
                  <a:srgbClr val="DFD5D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-20">
                <a:solidFill>
                  <a:srgbClr val="DFD5DE"/>
                </a:solidFill>
                <a:latin typeface="Malgun Gothic Semilight"/>
                <a:cs typeface="Malgun Gothic Semilight"/>
              </a:rPr>
              <a:t>Core</a:t>
            </a:r>
            <a:endParaRPr sz="2300">
              <a:latin typeface="Malgun Gothic Semilight"/>
              <a:cs typeface="Malgun Gothic Semilight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Utilizing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advanced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NLP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resume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analysis,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chatbot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interactions,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job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prediction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algorithms.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50">
              <a:latin typeface="Verdana"/>
              <a:cs typeface="Verdana"/>
            </a:endParaRPr>
          </a:p>
          <a:p>
            <a:pPr marL="352425">
              <a:lnSpc>
                <a:spcPct val="100000"/>
              </a:lnSpc>
            </a:pPr>
            <a:r>
              <a:rPr dirty="0" sz="2300" spc="65">
                <a:solidFill>
                  <a:srgbClr val="DFD5DE"/>
                </a:solidFill>
                <a:latin typeface="Malgun Gothic Semilight"/>
                <a:cs typeface="Malgun Gothic Semilight"/>
              </a:rPr>
              <a:t>Scalable</a:t>
            </a:r>
            <a:r>
              <a:rPr dirty="0" sz="2300" spc="390">
                <a:solidFill>
                  <a:srgbClr val="DFD5D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>
                <a:solidFill>
                  <a:srgbClr val="DFD5DE"/>
                </a:solidFill>
                <a:latin typeface="Malgun Gothic Semilight"/>
                <a:cs typeface="Malgun Gothic Semilight"/>
              </a:rPr>
              <a:t>Infras</a:t>
            </a:r>
            <a:r>
              <a:rPr dirty="0" sz="2300" spc="-265">
                <a:solidFill>
                  <a:srgbClr val="DFD5D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70">
                <a:solidFill>
                  <a:srgbClr val="DFD5DE"/>
                </a:solidFill>
                <a:latin typeface="Malgun Gothic Semilight"/>
                <a:cs typeface="Malgun Gothic Semilight"/>
              </a:rPr>
              <a:t>tructure</a:t>
            </a:r>
            <a:endParaRPr sz="2300">
              <a:latin typeface="Malgun Gothic Semilight"/>
              <a:cs typeface="Malgun Gothic Semilight"/>
            </a:endParaRPr>
          </a:p>
          <a:p>
            <a:pPr marL="352425">
              <a:lnSpc>
                <a:spcPct val="100000"/>
              </a:lnSpc>
              <a:spcBef>
                <a:spcPts val="1789"/>
              </a:spcBef>
            </a:pP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Cloud-based</a:t>
            </a:r>
            <a:r>
              <a:rPr dirty="0" sz="1750" spc="-2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architecture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ensures</a:t>
            </a:r>
            <a:r>
              <a:rPr dirty="0" sz="1750" spc="-1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high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availability</a:t>
            </a:r>
            <a:r>
              <a:rPr dirty="0" sz="1750" spc="-20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can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handle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a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growing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user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base.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50">
              <a:latin typeface="Verdana"/>
              <a:cs typeface="Verdana"/>
            </a:endParaRPr>
          </a:p>
          <a:p>
            <a:pPr marL="692785">
              <a:lnSpc>
                <a:spcPct val="100000"/>
              </a:lnSpc>
            </a:pPr>
            <a:r>
              <a:rPr dirty="0" sz="2300" spc="60">
                <a:solidFill>
                  <a:srgbClr val="DFD5DE"/>
                </a:solidFill>
                <a:latin typeface="Malgun Gothic Semilight"/>
                <a:cs typeface="Malgun Gothic Semilight"/>
              </a:rPr>
              <a:t>User-</a:t>
            </a:r>
            <a:r>
              <a:rPr dirty="0" sz="2300" spc="55">
                <a:solidFill>
                  <a:srgbClr val="DFD5DE"/>
                </a:solidFill>
                <a:latin typeface="Malgun Gothic Semilight"/>
                <a:cs typeface="Malgun Gothic Semilight"/>
              </a:rPr>
              <a:t>Friendly</a:t>
            </a:r>
            <a:r>
              <a:rPr dirty="0" sz="2300" spc="190">
                <a:solidFill>
                  <a:srgbClr val="DFD5DE"/>
                </a:solidFill>
                <a:latin typeface="Malgun Gothic Semilight"/>
                <a:cs typeface="Malgun Gothic Semilight"/>
              </a:rPr>
              <a:t> </a:t>
            </a:r>
            <a:r>
              <a:rPr dirty="0" sz="2300" spc="45">
                <a:solidFill>
                  <a:srgbClr val="DFD5DE"/>
                </a:solidFill>
                <a:latin typeface="Malgun Gothic Semilight"/>
                <a:cs typeface="Malgun Gothic Semilight"/>
              </a:rPr>
              <a:t>Interface</a:t>
            </a:r>
            <a:endParaRPr sz="2300">
              <a:latin typeface="Malgun Gothic Semilight"/>
              <a:cs typeface="Malgun Gothic Semilight"/>
            </a:endParaRPr>
          </a:p>
          <a:p>
            <a:pPr marL="692785">
              <a:lnSpc>
                <a:spcPct val="100000"/>
              </a:lnSpc>
              <a:spcBef>
                <a:spcPts val="1795"/>
              </a:spcBef>
            </a:pP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Intuitive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design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7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seamless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navigation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on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both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desktop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mobile.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835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Innovation</a:t>
            </a:r>
            <a:r>
              <a:rPr dirty="0" spc="-80"/>
              <a:t> </a:t>
            </a:r>
            <a:r>
              <a:rPr dirty="0"/>
              <a:t>&amp;</a:t>
            </a:r>
            <a:r>
              <a:rPr dirty="0" spc="-185"/>
              <a:t> </a:t>
            </a:r>
            <a:r>
              <a:rPr dirty="0" spc="-20"/>
              <a:t>Social</a:t>
            </a:r>
            <a:r>
              <a:rPr dirty="0" spc="-265"/>
              <a:t> </a:t>
            </a:r>
            <a:r>
              <a:rPr dirty="0" spc="-10"/>
              <a:t>Impact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1304" y="3200857"/>
            <a:ext cx="5942330" cy="2885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Personalized</a:t>
            </a:r>
            <a:r>
              <a:rPr dirty="0" sz="2300" spc="-80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89AE"/>
                </a:solidFill>
                <a:latin typeface="Arial"/>
                <a:cs typeface="Arial"/>
              </a:rPr>
              <a:t>Career</a:t>
            </a:r>
            <a:r>
              <a:rPr dirty="0" sz="2300" spc="-70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Paths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Moves</a:t>
            </a:r>
            <a:r>
              <a:rPr dirty="0" sz="1750" spc="-1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beyond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generic</a:t>
            </a:r>
            <a:r>
              <a:rPr dirty="0" sz="17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advice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offer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tailored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guidance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based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on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individual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data.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Democratizing</a:t>
            </a:r>
            <a:r>
              <a:rPr dirty="0" sz="2300" spc="-90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Access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Provides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high-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quality</a:t>
            </a:r>
            <a:r>
              <a:rPr dirty="0" sz="1750" spc="-1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resources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that</a:t>
            </a:r>
            <a:r>
              <a:rPr dirty="0" sz="17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might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otherwise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be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inaccessible</a:t>
            </a:r>
            <a:r>
              <a:rPr dirty="0" sz="1750" spc="-21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or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expensive.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89266" y="3200857"/>
            <a:ext cx="5561330" cy="2885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5" b="1">
                <a:solidFill>
                  <a:srgbClr val="FF89AE"/>
                </a:solidFill>
                <a:latin typeface="Arial"/>
                <a:cs typeface="Arial"/>
              </a:rPr>
              <a:t>Reducing</a:t>
            </a:r>
            <a:r>
              <a:rPr dirty="0" sz="2300" spc="-90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Unemployment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Helps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individuals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find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suitable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employment</a:t>
            </a:r>
            <a:r>
              <a:rPr dirty="0" sz="1750" spc="-1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faster,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contributing</a:t>
            </a:r>
            <a:r>
              <a:rPr dirty="0" sz="17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economic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stability.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dirty="0" sz="2300" spc="-75" b="1">
                <a:solidFill>
                  <a:srgbClr val="FF89AE"/>
                </a:solidFill>
                <a:latin typeface="Arial"/>
                <a:cs typeface="Arial"/>
              </a:rPr>
              <a:t>Skill</a:t>
            </a:r>
            <a:r>
              <a:rPr dirty="0" sz="2300" spc="-100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89AE"/>
                </a:solidFill>
                <a:latin typeface="Arial"/>
                <a:cs typeface="Arial"/>
              </a:rPr>
              <a:t>Development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Identifies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skill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gaps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recommends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learning</a:t>
            </a: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paths,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fostering</a:t>
            </a: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continuous</a:t>
            </a:r>
            <a:r>
              <a:rPr dirty="0" sz="17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growth.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6193" y="544779"/>
            <a:ext cx="848233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spc="-60"/>
              <a:t>Why</a:t>
            </a:r>
            <a:r>
              <a:rPr dirty="0" sz="4400" spc="-315"/>
              <a:t> </a:t>
            </a:r>
            <a:r>
              <a:rPr dirty="0" sz="4400" spc="-30"/>
              <a:t>Invest</a:t>
            </a:r>
            <a:r>
              <a:rPr dirty="0" sz="4400" spc="-260"/>
              <a:t> </a:t>
            </a:r>
            <a:r>
              <a:rPr dirty="0" sz="4400"/>
              <a:t>in</a:t>
            </a:r>
            <a:r>
              <a:rPr dirty="0" sz="4400" spc="-250"/>
              <a:t> </a:t>
            </a:r>
            <a:r>
              <a:rPr dirty="0" sz="4400"/>
              <a:t>AI</a:t>
            </a:r>
            <a:r>
              <a:rPr dirty="0" sz="4400" spc="5"/>
              <a:t> </a:t>
            </a:r>
            <a:r>
              <a:rPr dirty="0" sz="4400"/>
              <a:t>Career</a:t>
            </a:r>
            <a:r>
              <a:rPr dirty="0" sz="4400" spc="-45"/>
              <a:t> </a:t>
            </a:r>
            <a:r>
              <a:rPr dirty="0" sz="4400" spc="-10"/>
              <a:t>Mentor?</a:t>
            </a:r>
            <a:endParaRPr sz="4400"/>
          </a:p>
        </p:txBody>
      </p:sp>
      <p:sp>
        <p:nvSpPr>
          <p:cNvPr id="3" name="object 3" descr=""/>
          <p:cNvSpPr txBox="1"/>
          <p:nvPr/>
        </p:nvSpPr>
        <p:spPr>
          <a:xfrm>
            <a:off x="736193" y="1661698"/>
            <a:ext cx="12593955" cy="71247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650" spc="-130">
                <a:solidFill>
                  <a:srgbClr val="DFD5DE"/>
                </a:solidFill>
                <a:latin typeface="Verdana"/>
                <a:cs typeface="Verdana"/>
              </a:rPr>
              <a:t>AI</a:t>
            </a:r>
            <a:r>
              <a:rPr dirty="0" sz="16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6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DFD5DE"/>
                </a:solidFill>
                <a:latin typeface="Verdana"/>
                <a:cs typeface="Verdana"/>
              </a:rPr>
              <a:t>Mentor</a:t>
            </a:r>
            <a:r>
              <a:rPr dirty="0" sz="1650" spc="-1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represents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a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significant</a:t>
            </a:r>
            <a:r>
              <a:rPr dirty="0" sz="1650" spc="-3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75">
                <a:solidFill>
                  <a:srgbClr val="DFD5DE"/>
                </a:solidFill>
                <a:latin typeface="Verdana"/>
                <a:cs typeface="Verdana"/>
              </a:rPr>
              <a:t>investment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opportunity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in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the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rapidly</a:t>
            </a:r>
            <a:r>
              <a:rPr dirty="0" sz="1650" spc="-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expanding</a:t>
            </a:r>
            <a:r>
              <a:rPr dirty="0" sz="16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EdTech</a:t>
            </a:r>
            <a:r>
              <a:rPr dirty="0" sz="16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6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HR</a:t>
            </a:r>
            <a:r>
              <a:rPr dirty="0" sz="16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technology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markets.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We're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building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a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future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where</a:t>
            </a:r>
            <a:r>
              <a:rPr dirty="0" sz="16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personalized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6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guidance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is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accessible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to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all.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808" y="2642616"/>
            <a:ext cx="534924" cy="53492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36193" y="3421837"/>
            <a:ext cx="4146550" cy="1503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DFD5DE"/>
                </a:solidFill>
                <a:latin typeface="Arial"/>
                <a:cs typeface="Arial"/>
              </a:rPr>
              <a:t>Holistic</a:t>
            </a:r>
            <a:r>
              <a:rPr dirty="0" sz="2200" spc="-6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DFD5DE"/>
                </a:solidFill>
                <a:latin typeface="Arial"/>
                <a:cs typeface="Arial"/>
              </a:rPr>
              <a:t>Ecosystem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890"/>
              </a:spcBef>
            </a:pPr>
            <a:r>
              <a:rPr dirty="0" sz="1650" spc="-35">
                <a:solidFill>
                  <a:srgbClr val="DFD5DE"/>
                </a:solidFill>
                <a:latin typeface="Verdana"/>
                <a:cs typeface="Verdana"/>
              </a:rPr>
              <a:t>An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all-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in-</a:t>
            </a:r>
            <a:r>
              <a:rPr dirty="0" sz="1650" spc="-45">
                <a:solidFill>
                  <a:srgbClr val="DFD5DE"/>
                </a:solidFill>
                <a:latin typeface="Verdana"/>
                <a:cs typeface="Verdana"/>
              </a:rPr>
              <a:t>one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platform 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integrating </a:t>
            </a:r>
            <a:r>
              <a:rPr dirty="0" sz="1650" spc="-25">
                <a:solidFill>
                  <a:srgbClr val="DFD5DE"/>
                </a:solidFill>
                <a:latin typeface="Verdana"/>
                <a:cs typeface="Verdana"/>
              </a:rPr>
              <a:t>job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search,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learning,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6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personalized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career development.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6652" y="2642616"/>
            <a:ext cx="534924" cy="53492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204586" y="3421837"/>
            <a:ext cx="4007485" cy="1503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DFD5DE"/>
                </a:solidFill>
                <a:latin typeface="Arial"/>
                <a:cs typeface="Arial"/>
              </a:rPr>
              <a:t>Seamless</a:t>
            </a:r>
            <a:r>
              <a:rPr dirty="0" sz="2200" spc="-10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DFD5DE"/>
                </a:solidFill>
                <a:latin typeface="Arial"/>
                <a:cs typeface="Arial"/>
              </a:rPr>
              <a:t>Integration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890"/>
              </a:spcBef>
            </a:pP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Designed</a:t>
            </a:r>
            <a:r>
              <a:rPr dirty="0" sz="16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6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5">
                <a:solidFill>
                  <a:srgbClr val="DFD5DE"/>
                </a:solidFill>
                <a:latin typeface="Verdana"/>
                <a:cs typeface="Verdana"/>
              </a:rPr>
              <a:t>plug-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and-play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adoption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DFD5DE"/>
                </a:solidFill>
                <a:latin typeface="Verdana"/>
                <a:cs typeface="Verdana"/>
              </a:rPr>
              <a:t>by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educational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institutions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DFD5DE"/>
                </a:solidFill>
                <a:latin typeface="Verdana"/>
                <a:cs typeface="Verdana"/>
              </a:rPr>
              <a:t>HR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departments.</a:t>
            </a:r>
            <a:endParaRPr sz="16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83495" y="2642616"/>
            <a:ext cx="534924" cy="5349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672573" y="3421837"/>
            <a:ext cx="4140200" cy="1160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DFD5DE"/>
                </a:solidFill>
                <a:latin typeface="Arial"/>
                <a:cs typeface="Arial"/>
              </a:rPr>
              <a:t>Data-</a:t>
            </a:r>
            <a:r>
              <a:rPr dirty="0" sz="2200" spc="-35" b="1">
                <a:solidFill>
                  <a:srgbClr val="DFD5DE"/>
                </a:solidFill>
                <a:latin typeface="Arial"/>
                <a:cs typeface="Arial"/>
              </a:rPr>
              <a:t>Driven</a:t>
            </a:r>
            <a:r>
              <a:rPr dirty="0" sz="2200" spc="-4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DFD5DE"/>
                </a:solidFill>
                <a:latin typeface="Arial"/>
                <a:cs typeface="Arial"/>
              </a:rPr>
              <a:t>Improvement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dirty="0" sz="1650">
                <a:solidFill>
                  <a:srgbClr val="DFD5DE"/>
                </a:solidFill>
                <a:latin typeface="Verdana"/>
                <a:cs typeface="Verdana"/>
              </a:rPr>
              <a:t>A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continuous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data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DFD5DE"/>
                </a:solidFill>
                <a:latin typeface="Verdana"/>
                <a:cs typeface="Verdana"/>
              </a:rPr>
              <a:t>feedback</a:t>
            </a:r>
            <a:r>
              <a:rPr dirty="0" sz="16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DFD5DE"/>
                </a:solidFill>
                <a:latin typeface="Verdana"/>
                <a:cs typeface="Verdana"/>
              </a:rPr>
              <a:t>loop</a:t>
            </a:r>
            <a:r>
              <a:rPr dirty="0" sz="16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ensures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50" spc="-45">
                <a:solidFill>
                  <a:srgbClr val="DFD5DE"/>
                </a:solidFill>
                <a:latin typeface="Verdana"/>
                <a:cs typeface="Verdana"/>
              </a:rPr>
              <a:t>product</a:t>
            </a:r>
            <a:r>
              <a:rPr dirty="0" sz="16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6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user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outcome</a:t>
            </a:r>
            <a:r>
              <a:rPr dirty="0" sz="16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DFD5DE"/>
                </a:solidFill>
                <a:latin typeface="Verdana"/>
                <a:cs typeface="Verdana"/>
              </a:rPr>
              <a:t>enhancement.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36193" y="5383479"/>
            <a:ext cx="30556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FF89AE"/>
                </a:solidFill>
                <a:latin typeface="Arial"/>
                <a:cs typeface="Arial"/>
              </a:rPr>
              <a:t>Future</a:t>
            </a:r>
            <a:r>
              <a:rPr dirty="0" sz="2200" spc="-14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F89AE"/>
                </a:solidFill>
                <a:latin typeface="Arial"/>
                <a:cs typeface="Arial"/>
              </a:rPr>
              <a:t>Business</a:t>
            </a:r>
            <a:r>
              <a:rPr dirty="0" sz="2200" spc="-1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FF89AE"/>
                </a:solidFill>
                <a:latin typeface="Arial"/>
                <a:cs typeface="Arial"/>
              </a:rPr>
              <a:t>Model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6193" y="6008065"/>
            <a:ext cx="4932045" cy="1113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</a:tabLst>
            </a:pP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Freemium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model</a:t>
            </a:r>
            <a:r>
              <a:rPr dirty="0" sz="16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6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individual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users</a:t>
            </a:r>
            <a:endParaRPr sz="16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05"/>
              </a:spcBef>
              <a:buChar char="•"/>
              <a:tabLst>
                <a:tab pos="355600" algn="l"/>
              </a:tabLst>
            </a:pP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B2B</a:t>
            </a:r>
            <a:r>
              <a:rPr dirty="0" sz="16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licensing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institutions</a:t>
            </a:r>
            <a:r>
              <a:rPr dirty="0" sz="1650" spc="-10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corporations</a:t>
            </a:r>
            <a:endParaRPr sz="16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310"/>
              </a:spcBef>
              <a:buChar char="•"/>
              <a:tabLst>
                <a:tab pos="355600" algn="l"/>
              </a:tabLst>
            </a:pP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Ad-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supported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learning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content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streams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573518" y="5383479"/>
            <a:ext cx="29451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solidFill>
                  <a:srgbClr val="FF89AE"/>
                </a:solidFill>
                <a:latin typeface="Arial"/>
                <a:cs typeface="Arial"/>
              </a:rPr>
              <a:t>New</a:t>
            </a:r>
            <a:r>
              <a:rPr dirty="0" sz="2200" spc="-16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200" spc="-75" b="1">
                <a:solidFill>
                  <a:srgbClr val="FF89AE"/>
                </a:solidFill>
                <a:latin typeface="Arial"/>
                <a:cs typeface="Arial"/>
              </a:rPr>
              <a:t>Revenue</a:t>
            </a:r>
            <a:r>
              <a:rPr dirty="0" sz="2200" spc="-5" b="1">
                <a:solidFill>
                  <a:srgbClr val="FF89AE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89AE"/>
                </a:solidFill>
                <a:latin typeface="Arial"/>
                <a:cs typeface="Arial"/>
              </a:rPr>
              <a:t>Streams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573518" y="6008065"/>
            <a:ext cx="5402580" cy="1530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Premium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subscription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650" spc="-14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DFD5DE"/>
                </a:solidFill>
                <a:latin typeface="Verdana"/>
                <a:cs typeface="Verdana"/>
              </a:rPr>
              <a:t>exclusive</a:t>
            </a:r>
            <a:r>
              <a:rPr dirty="0" sz="1650" spc="-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features</a:t>
            </a:r>
            <a:endParaRPr sz="16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305"/>
              </a:spcBef>
              <a:buChar char="•"/>
              <a:tabLst>
                <a:tab pos="354965" algn="l"/>
              </a:tabLst>
            </a:pPr>
            <a:r>
              <a:rPr dirty="0" sz="1650" spc="-40">
                <a:solidFill>
                  <a:srgbClr val="DFD5DE"/>
                </a:solidFill>
                <a:latin typeface="Verdana"/>
                <a:cs typeface="Verdana"/>
              </a:rPr>
              <a:t>Marketplace</a:t>
            </a:r>
            <a:r>
              <a:rPr dirty="0" sz="16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650" spc="-13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gigs,</a:t>
            </a:r>
            <a:r>
              <a:rPr dirty="0" sz="1650" spc="-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internships,</a:t>
            </a:r>
            <a:r>
              <a:rPr dirty="0" sz="1650" spc="-5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5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bootcamps</a:t>
            </a:r>
            <a:endParaRPr sz="16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310"/>
              </a:spcBef>
              <a:buChar char="•"/>
              <a:tabLst>
                <a:tab pos="354965" algn="l"/>
              </a:tabLst>
            </a:pPr>
            <a:r>
              <a:rPr dirty="0" sz="1650" spc="-125">
                <a:solidFill>
                  <a:srgbClr val="DFD5DE"/>
                </a:solidFill>
                <a:latin typeface="Verdana"/>
                <a:cs typeface="Verdana"/>
              </a:rPr>
              <a:t>AI</a:t>
            </a:r>
            <a:r>
              <a:rPr dirty="0" sz="16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Interview</a:t>
            </a:r>
            <a:r>
              <a:rPr dirty="0" sz="16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DFD5DE"/>
                </a:solidFill>
                <a:latin typeface="Verdana"/>
                <a:cs typeface="Verdana"/>
              </a:rPr>
              <a:t>Coach</a:t>
            </a:r>
            <a:r>
              <a:rPr dirty="0" sz="1650" spc="-1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with</a:t>
            </a:r>
            <a:r>
              <a:rPr dirty="0" sz="1650" spc="-8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35">
                <a:solidFill>
                  <a:srgbClr val="DFD5DE"/>
                </a:solidFill>
                <a:latin typeface="Verdana"/>
                <a:cs typeface="Verdana"/>
              </a:rPr>
              <a:t>advanced</a:t>
            </a:r>
            <a:r>
              <a:rPr dirty="0" sz="16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simulations</a:t>
            </a:r>
            <a:endParaRPr sz="165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305"/>
              </a:spcBef>
              <a:buChar char="•"/>
              <a:tabLst>
                <a:tab pos="354965" algn="l"/>
              </a:tabLst>
            </a:pPr>
            <a:r>
              <a:rPr dirty="0" sz="1650" spc="-30">
                <a:solidFill>
                  <a:srgbClr val="DFD5DE"/>
                </a:solidFill>
                <a:latin typeface="Verdana"/>
                <a:cs typeface="Verdana"/>
              </a:rPr>
              <a:t>User</a:t>
            </a:r>
            <a:r>
              <a:rPr dirty="0" sz="1650" spc="-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5">
                <a:solidFill>
                  <a:srgbClr val="DFD5DE"/>
                </a:solidFill>
                <a:latin typeface="Verdana"/>
                <a:cs typeface="Verdana"/>
              </a:rPr>
              <a:t>analytics</a:t>
            </a:r>
            <a:r>
              <a:rPr dirty="0" sz="1650" spc="-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45">
                <a:solidFill>
                  <a:srgbClr val="DFD5DE"/>
                </a:solidFill>
                <a:latin typeface="Verdana"/>
                <a:cs typeface="Verdana"/>
              </a:rPr>
              <a:t>dashboard</a:t>
            </a:r>
            <a:r>
              <a:rPr dirty="0" sz="1650" spc="-7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r>
              <a:rPr dirty="0" sz="16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DFD5DE"/>
                </a:solidFill>
                <a:latin typeface="Verdana"/>
                <a:cs typeface="Verdana"/>
              </a:rPr>
              <a:t>organizational</a:t>
            </a:r>
            <a:r>
              <a:rPr dirty="0" sz="1650" spc="-10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DFD5DE"/>
                </a:solidFill>
                <a:latin typeface="Verdana"/>
                <a:cs typeface="Verdana"/>
              </a:rPr>
              <a:t>clients</a:t>
            </a:r>
            <a:endParaRPr sz="1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1492072"/>
            <a:ext cx="7563484" cy="734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Scalability</a:t>
            </a:r>
            <a:r>
              <a:rPr dirty="0" spc="-425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 spc="-10"/>
              <a:t>Future</a:t>
            </a:r>
            <a:r>
              <a:rPr dirty="0" spc="-125"/>
              <a:t> </a:t>
            </a:r>
            <a:r>
              <a:rPr dirty="0" spc="-20"/>
              <a:t>Growth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527" y="2615183"/>
            <a:ext cx="1133856" cy="408279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/>
              <a:t>Global</a:t>
            </a:r>
            <a:r>
              <a:rPr dirty="0" spc="-100"/>
              <a:t> </a:t>
            </a:r>
            <a:r>
              <a:rPr dirty="0" spc="-10"/>
              <a:t>Expansion</a:t>
            </a: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40" b="0">
                <a:latin typeface="Verdana"/>
                <a:cs typeface="Verdana"/>
              </a:rPr>
              <a:t>Adaptable</a:t>
            </a:r>
            <a:r>
              <a:rPr dirty="0" sz="1750" spc="-170" b="0">
                <a:latin typeface="Verdana"/>
                <a:cs typeface="Verdana"/>
              </a:rPr>
              <a:t> </a:t>
            </a:r>
            <a:r>
              <a:rPr dirty="0" sz="1750" spc="-70" b="0">
                <a:latin typeface="Verdana"/>
                <a:cs typeface="Verdana"/>
              </a:rPr>
              <a:t>to</a:t>
            </a:r>
            <a:r>
              <a:rPr dirty="0" sz="1750" spc="-85" b="0">
                <a:latin typeface="Verdana"/>
                <a:cs typeface="Verdana"/>
              </a:rPr>
              <a:t> </a:t>
            </a:r>
            <a:r>
              <a:rPr dirty="0" sz="1750" spc="-55" b="0">
                <a:latin typeface="Verdana"/>
                <a:cs typeface="Verdana"/>
              </a:rPr>
              <a:t>various</a:t>
            </a:r>
            <a:r>
              <a:rPr dirty="0" sz="1750" spc="-135" b="0">
                <a:latin typeface="Verdana"/>
                <a:cs typeface="Verdana"/>
              </a:rPr>
              <a:t> </a:t>
            </a:r>
            <a:r>
              <a:rPr dirty="0" sz="1750" spc="-75" b="0">
                <a:latin typeface="Verdana"/>
                <a:cs typeface="Verdana"/>
              </a:rPr>
              <a:t>job</a:t>
            </a:r>
            <a:r>
              <a:rPr dirty="0" sz="1750" spc="-105" b="0">
                <a:latin typeface="Verdana"/>
                <a:cs typeface="Verdana"/>
              </a:rPr>
              <a:t> </a:t>
            </a:r>
            <a:r>
              <a:rPr dirty="0" sz="1750" spc="-75" b="0">
                <a:latin typeface="Verdana"/>
                <a:cs typeface="Verdana"/>
              </a:rPr>
              <a:t>markets</a:t>
            </a:r>
            <a:r>
              <a:rPr dirty="0" sz="1750" spc="-135" b="0">
                <a:latin typeface="Verdana"/>
                <a:cs typeface="Verdana"/>
              </a:rPr>
              <a:t> </a:t>
            </a:r>
            <a:r>
              <a:rPr dirty="0" sz="1750" spc="-50" b="0">
                <a:latin typeface="Verdana"/>
                <a:cs typeface="Verdana"/>
              </a:rPr>
              <a:t>and</a:t>
            </a:r>
            <a:r>
              <a:rPr dirty="0" sz="1750" spc="-100" b="0">
                <a:latin typeface="Verdana"/>
                <a:cs typeface="Verdana"/>
              </a:rPr>
              <a:t> </a:t>
            </a:r>
            <a:r>
              <a:rPr dirty="0" sz="1750" spc="-40" b="0">
                <a:latin typeface="Verdana"/>
                <a:cs typeface="Verdana"/>
              </a:rPr>
              <a:t>languages</a:t>
            </a:r>
            <a:r>
              <a:rPr dirty="0" sz="1750" spc="-180" b="0">
                <a:latin typeface="Verdana"/>
                <a:cs typeface="Verdana"/>
              </a:rPr>
              <a:t> </a:t>
            </a:r>
            <a:r>
              <a:rPr dirty="0" sz="1750" spc="-10" b="0">
                <a:latin typeface="Verdana"/>
                <a:cs typeface="Verdana"/>
              </a:rPr>
              <a:t>worldwide.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pc="-10"/>
              <a:t>Partnerships</a:t>
            </a: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45" b="0">
                <a:latin typeface="Verdana"/>
                <a:cs typeface="Verdana"/>
              </a:rPr>
              <a:t>Collaborate</a:t>
            </a:r>
            <a:r>
              <a:rPr dirty="0" sz="1750" spc="-170" b="0">
                <a:latin typeface="Verdana"/>
                <a:cs typeface="Verdana"/>
              </a:rPr>
              <a:t> </a:t>
            </a:r>
            <a:r>
              <a:rPr dirty="0" sz="1750" spc="-65" b="0">
                <a:latin typeface="Verdana"/>
                <a:cs typeface="Verdana"/>
              </a:rPr>
              <a:t>with</a:t>
            </a:r>
            <a:r>
              <a:rPr dirty="0" sz="1750" spc="-60" b="0">
                <a:latin typeface="Verdana"/>
                <a:cs typeface="Verdana"/>
              </a:rPr>
              <a:t> </a:t>
            </a:r>
            <a:r>
              <a:rPr dirty="0" sz="1750" spc="-45" b="0">
                <a:latin typeface="Verdana"/>
                <a:cs typeface="Verdana"/>
              </a:rPr>
              <a:t>educational</a:t>
            </a:r>
            <a:r>
              <a:rPr dirty="0" sz="1750" spc="-220" b="0">
                <a:latin typeface="Verdana"/>
                <a:cs typeface="Verdana"/>
              </a:rPr>
              <a:t> </a:t>
            </a:r>
            <a:r>
              <a:rPr dirty="0" sz="1750" spc="-65" b="0">
                <a:latin typeface="Verdana"/>
                <a:cs typeface="Verdana"/>
              </a:rPr>
              <a:t>institutions</a:t>
            </a:r>
            <a:r>
              <a:rPr dirty="0" sz="1750" spc="-135" b="0">
                <a:latin typeface="Verdana"/>
                <a:cs typeface="Verdana"/>
              </a:rPr>
              <a:t> </a:t>
            </a:r>
            <a:r>
              <a:rPr dirty="0" sz="1750" spc="-50" b="0">
                <a:latin typeface="Verdana"/>
                <a:cs typeface="Verdana"/>
              </a:rPr>
              <a:t>and</a:t>
            </a:r>
            <a:r>
              <a:rPr dirty="0" sz="1750" spc="-100" b="0">
                <a:latin typeface="Verdana"/>
                <a:cs typeface="Verdana"/>
              </a:rPr>
              <a:t> </a:t>
            </a:r>
            <a:r>
              <a:rPr dirty="0" sz="1750" spc="-45" b="0">
                <a:latin typeface="Verdana"/>
                <a:cs typeface="Verdana"/>
              </a:rPr>
              <a:t>corporations</a:t>
            </a:r>
            <a:r>
              <a:rPr dirty="0" sz="1750" spc="-95" b="0">
                <a:latin typeface="Verdana"/>
                <a:cs typeface="Verdana"/>
              </a:rPr>
              <a:t> </a:t>
            </a:r>
            <a:r>
              <a:rPr dirty="0" sz="1750" spc="-35" b="0">
                <a:latin typeface="Verdana"/>
                <a:cs typeface="Verdana"/>
              </a:rPr>
              <a:t>for</a:t>
            </a:r>
            <a:r>
              <a:rPr dirty="0" sz="1750" spc="-85" b="0">
                <a:latin typeface="Verdana"/>
                <a:cs typeface="Verdana"/>
              </a:rPr>
              <a:t> </a:t>
            </a:r>
            <a:r>
              <a:rPr dirty="0" sz="1750" spc="-45" b="0">
                <a:latin typeface="Verdana"/>
                <a:cs typeface="Verdana"/>
              </a:rPr>
              <a:t>broader</a:t>
            </a:r>
            <a:r>
              <a:rPr dirty="0" sz="1750" spc="-85" b="0">
                <a:latin typeface="Verdana"/>
                <a:cs typeface="Verdana"/>
              </a:rPr>
              <a:t> </a:t>
            </a:r>
            <a:r>
              <a:rPr dirty="0" sz="1750" spc="-10" b="0">
                <a:latin typeface="Verdana"/>
                <a:cs typeface="Verdana"/>
              </a:rPr>
              <a:t>reach.</a:t>
            </a:r>
            <a:endParaRPr sz="17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New</a:t>
            </a:r>
            <a:r>
              <a:rPr dirty="0" spc="-155"/>
              <a:t> </a:t>
            </a:r>
            <a:r>
              <a:rPr dirty="0" spc="-10"/>
              <a:t>Features</a:t>
            </a: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1750" spc="-90" b="0">
                <a:latin typeface="Verdana"/>
                <a:cs typeface="Verdana"/>
              </a:rPr>
              <a:t>Integrate</a:t>
            </a:r>
            <a:r>
              <a:rPr dirty="0" sz="1750" spc="-105" b="0">
                <a:latin typeface="Verdana"/>
                <a:cs typeface="Verdana"/>
              </a:rPr>
              <a:t> </a:t>
            </a:r>
            <a:r>
              <a:rPr dirty="0" sz="1750" spc="-55" b="0">
                <a:latin typeface="Verdana"/>
                <a:cs typeface="Verdana"/>
              </a:rPr>
              <a:t>interview</a:t>
            </a:r>
            <a:r>
              <a:rPr dirty="0" sz="1750" spc="-114" b="0">
                <a:latin typeface="Verdana"/>
                <a:cs typeface="Verdana"/>
              </a:rPr>
              <a:t> </a:t>
            </a:r>
            <a:r>
              <a:rPr dirty="0" sz="1750" spc="-70" b="0">
                <a:latin typeface="Verdana"/>
                <a:cs typeface="Verdana"/>
              </a:rPr>
              <a:t>simulations,</a:t>
            </a:r>
            <a:r>
              <a:rPr dirty="0" sz="1750" spc="-165" b="0">
                <a:latin typeface="Verdana"/>
                <a:cs typeface="Verdana"/>
              </a:rPr>
              <a:t> </a:t>
            </a:r>
            <a:r>
              <a:rPr dirty="0" sz="1750" spc="-65" b="0">
                <a:latin typeface="Verdana"/>
                <a:cs typeface="Verdana"/>
              </a:rPr>
              <a:t>mentorship</a:t>
            </a:r>
            <a:r>
              <a:rPr dirty="0" sz="1750" spc="-120" b="0">
                <a:latin typeface="Verdana"/>
                <a:cs typeface="Verdana"/>
              </a:rPr>
              <a:t> </a:t>
            </a:r>
            <a:r>
              <a:rPr dirty="0" sz="1750" spc="-75" b="0">
                <a:latin typeface="Verdana"/>
                <a:cs typeface="Verdana"/>
              </a:rPr>
              <a:t>programs,</a:t>
            </a:r>
            <a:r>
              <a:rPr dirty="0" sz="1750" spc="-85" b="0">
                <a:latin typeface="Verdana"/>
                <a:cs typeface="Verdana"/>
              </a:rPr>
              <a:t> </a:t>
            </a:r>
            <a:r>
              <a:rPr dirty="0" sz="1750" spc="-50" b="0">
                <a:latin typeface="Verdana"/>
                <a:cs typeface="Verdana"/>
              </a:rPr>
              <a:t>and</a:t>
            </a:r>
            <a:r>
              <a:rPr dirty="0" sz="1750" spc="-70" b="0">
                <a:latin typeface="Verdana"/>
                <a:cs typeface="Verdana"/>
              </a:rPr>
              <a:t> </a:t>
            </a:r>
            <a:r>
              <a:rPr dirty="0" sz="1750" spc="-10" b="0">
                <a:latin typeface="Verdana"/>
                <a:cs typeface="Verdana"/>
              </a:rPr>
              <a:t>more.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304" y="2373325"/>
            <a:ext cx="7892415" cy="7340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70"/>
              <a:t>Key</a:t>
            </a:r>
            <a:r>
              <a:rPr dirty="0" spc="-285"/>
              <a:t> </a:t>
            </a:r>
            <a:r>
              <a:rPr dirty="0" spc="-160"/>
              <a:t>Takeaways</a:t>
            </a:r>
            <a:r>
              <a:rPr dirty="0" spc="-14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 spc="-80"/>
              <a:t>Next</a:t>
            </a:r>
            <a:r>
              <a:rPr dirty="0" spc="-150"/>
              <a:t> </a:t>
            </a:r>
            <a:r>
              <a:rPr dirty="0" spc="-10"/>
              <a:t>Steps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90955" y="3493008"/>
            <a:ext cx="4201795" cy="1710055"/>
            <a:chOff x="790955" y="3493008"/>
            <a:chExt cx="4201795" cy="1710055"/>
          </a:xfrm>
        </p:grpSpPr>
        <p:sp>
          <p:nvSpPr>
            <p:cNvPr id="4" name="object 4" descr=""/>
            <p:cNvSpPr/>
            <p:nvPr/>
          </p:nvSpPr>
          <p:spPr>
            <a:xfrm>
              <a:off x="795527" y="3497580"/>
              <a:ext cx="4192904" cy="1701164"/>
            </a:xfrm>
            <a:custGeom>
              <a:avLst/>
              <a:gdLst/>
              <a:ahLst/>
              <a:cxnLst/>
              <a:rect l="l" t="t" r="r" b="b"/>
              <a:pathLst>
                <a:path w="4192904" h="1701164">
                  <a:moveTo>
                    <a:pt x="4097401" y="0"/>
                  </a:moveTo>
                  <a:lnTo>
                    <a:pt x="95161" y="0"/>
                  </a:lnTo>
                  <a:lnTo>
                    <a:pt x="58121" y="7469"/>
                  </a:lnTo>
                  <a:lnTo>
                    <a:pt x="27873" y="27844"/>
                  </a:lnTo>
                  <a:lnTo>
                    <a:pt x="7478" y="58078"/>
                  </a:lnTo>
                  <a:lnTo>
                    <a:pt x="0" y="95123"/>
                  </a:lnTo>
                  <a:lnTo>
                    <a:pt x="0" y="1605661"/>
                  </a:lnTo>
                  <a:lnTo>
                    <a:pt x="7478" y="1642705"/>
                  </a:lnTo>
                  <a:lnTo>
                    <a:pt x="27873" y="1672939"/>
                  </a:lnTo>
                  <a:lnTo>
                    <a:pt x="58121" y="1693314"/>
                  </a:lnTo>
                  <a:lnTo>
                    <a:pt x="95161" y="1700784"/>
                  </a:lnTo>
                  <a:lnTo>
                    <a:pt x="4097401" y="1700784"/>
                  </a:lnTo>
                  <a:lnTo>
                    <a:pt x="4134445" y="1693314"/>
                  </a:lnTo>
                  <a:lnTo>
                    <a:pt x="4164679" y="1672939"/>
                  </a:lnTo>
                  <a:lnTo>
                    <a:pt x="4185054" y="1642705"/>
                  </a:lnTo>
                  <a:lnTo>
                    <a:pt x="4192524" y="1605661"/>
                  </a:lnTo>
                  <a:lnTo>
                    <a:pt x="4192524" y="95123"/>
                  </a:lnTo>
                  <a:lnTo>
                    <a:pt x="4185054" y="58078"/>
                  </a:lnTo>
                  <a:lnTo>
                    <a:pt x="4164679" y="27844"/>
                  </a:lnTo>
                  <a:lnTo>
                    <a:pt x="4134445" y="7469"/>
                  </a:lnTo>
                  <a:lnTo>
                    <a:pt x="4097401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5527" y="3497580"/>
              <a:ext cx="4192904" cy="1701164"/>
            </a:xfrm>
            <a:custGeom>
              <a:avLst/>
              <a:gdLst/>
              <a:ahLst/>
              <a:cxnLst/>
              <a:rect l="l" t="t" r="r" b="b"/>
              <a:pathLst>
                <a:path w="4192904" h="1701164">
                  <a:moveTo>
                    <a:pt x="0" y="95123"/>
                  </a:moveTo>
                  <a:lnTo>
                    <a:pt x="7478" y="58078"/>
                  </a:lnTo>
                  <a:lnTo>
                    <a:pt x="27873" y="27844"/>
                  </a:lnTo>
                  <a:lnTo>
                    <a:pt x="58121" y="7469"/>
                  </a:lnTo>
                  <a:lnTo>
                    <a:pt x="95161" y="0"/>
                  </a:lnTo>
                  <a:lnTo>
                    <a:pt x="4097401" y="0"/>
                  </a:lnTo>
                  <a:lnTo>
                    <a:pt x="4134445" y="7469"/>
                  </a:lnTo>
                  <a:lnTo>
                    <a:pt x="4164679" y="27844"/>
                  </a:lnTo>
                  <a:lnTo>
                    <a:pt x="4185054" y="58078"/>
                  </a:lnTo>
                  <a:lnTo>
                    <a:pt x="4192524" y="95123"/>
                  </a:lnTo>
                  <a:lnTo>
                    <a:pt x="4192524" y="1605661"/>
                  </a:lnTo>
                  <a:lnTo>
                    <a:pt x="4185054" y="1642705"/>
                  </a:lnTo>
                  <a:lnTo>
                    <a:pt x="4164679" y="1672939"/>
                  </a:lnTo>
                  <a:lnTo>
                    <a:pt x="4134445" y="1693314"/>
                  </a:lnTo>
                  <a:lnTo>
                    <a:pt x="4097401" y="1700784"/>
                  </a:lnTo>
                  <a:lnTo>
                    <a:pt x="95161" y="1700784"/>
                  </a:lnTo>
                  <a:lnTo>
                    <a:pt x="58121" y="1693314"/>
                  </a:lnTo>
                  <a:lnTo>
                    <a:pt x="27873" y="1672939"/>
                  </a:lnTo>
                  <a:lnTo>
                    <a:pt x="7478" y="1642705"/>
                  </a:lnTo>
                  <a:lnTo>
                    <a:pt x="0" y="1605661"/>
                  </a:lnTo>
                  <a:lnTo>
                    <a:pt x="0" y="95123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16000" y="3702176"/>
            <a:ext cx="3748404" cy="1242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0" b="1">
                <a:solidFill>
                  <a:srgbClr val="DFD5DE"/>
                </a:solidFill>
                <a:latin typeface="Arial"/>
                <a:cs typeface="Arial"/>
              </a:rPr>
              <a:t>Innovative</a:t>
            </a:r>
            <a:r>
              <a:rPr dirty="0" sz="2300" spc="-3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Solution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750" spc="-130">
                <a:solidFill>
                  <a:srgbClr val="DFD5DE"/>
                </a:solidFill>
                <a:latin typeface="Verdana"/>
                <a:cs typeface="Verdana"/>
              </a:rPr>
              <a:t>AI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Mentor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0">
                <a:solidFill>
                  <a:srgbClr val="DFD5DE"/>
                </a:solidFill>
                <a:latin typeface="Verdana"/>
                <a:cs typeface="Verdana"/>
              </a:rPr>
              <a:t>addresses</a:t>
            </a:r>
            <a:r>
              <a:rPr dirty="0" sz="1750" spc="-17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critical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75">
                <a:solidFill>
                  <a:srgbClr val="DFD5DE"/>
                </a:solidFill>
                <a:latin typeface="Verdana"/>
                <a:cs typeface="Verdana"/>
              </a:rPr>
              <a:t>job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market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challenges.</a:t>
            </a:r>
            <a:endParaRPr sz="17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212079" y="3493008"/>
            <a:ext cx="4206240" cy="1710055"/>
            <a:chOff x="5212079" y="3493008"/>
            <a:chExt cx="4206240" cy="1710055"/>
          </a:xfrm>
        </p:grpSpPr>
        <p:sp>
          <p:nvSpPr>
            <p:cNvPr id="8" name="object 8" descr=""/>
            <p:cNvSpPr/>
            <p:nvPr/>
          </p:nvSpPr>
          <p:spPr>
            <a:xfrm>
              <a:off x="5216651" y="3497580"/>
              <a:ext cx="4197350" cy="1701164"/>
            </a:xfrm>
            <a:custGeom>
              <a:avLst/>
              <a:gdLst/>
              <a:ahLst/>
              <a:cxnLst/>
              <a:rect l="l" t="t" r="r" b="b"/>
              <a:pathLst>
                <a:path w="4197350" h="1701164">
                  <a:moveTo>
                    <a:pt x="4101973" y="0"/>
                  </a:moveTo>
                  <a:lnTo>
                    <a:pt x="95123" y="0"/>
                  </a:lnTo>
                  <a:lnTo>
                    <a:pt x="58078" y="7469"/>
                  </a:lnTo>
                  <a:lnTo>
                    <a:pt x="27844" y="27844"/>
                  </a:lnTo>
                  <a:lnTo>
                    <a:pt x="7469" y="58078"/>
                  </a:lnTo>
                  <a:lnTo>
                    <a:pt x="0" y="95123"/>
                  </a:lnTo>
                  <a:lnTo>
                    <a:pt x="0" y="1605661"/>
                  </a:lnTo>
                  <a:lnTo>
                    <a:pt x="7469" y="1642705"/>
                  </a:lnTo>
                  <a:lnTo>
                    <a:pt x="27844" y="1672939"/>
                  </a:lnTo>
                  <a:lnTo>
                    <a:pt x="58078" y="1693314"/>
                  </a:lnTo>
                  <a:lnTo>
                    <a:pt x="95123" y="1700784"/>
                  </a:lnTo>
                  <a:lnTo>
                    <a:pt x="4101973" y="1700784"/>
                  </a:lnTo>
                  <a:lnTo>
                    <a:pt x="4139017" y="1693314"/>
                  </a:lnTo>
                  <a:lnTo>
                    <a:pt x="4169251" y="1672939"/>
                  </a:lnTo>
                  <a:lnTo>
                    <a:pt x="4189626" y="1642705"/>
                  </a:lnTo>
                  <a:lnTo>
                    <a:pt x="4197096" y="1605661"/>
                  </a:lnTo>
                  <a:lnTo>
                    <a:pt x="4197096" y="95123"/>
                  </a:lnTo>
                  <a:lnTo>
                    <a:pt x="4189626" y="58078"/>
                  </a:lnTo>
                  <a:lnTo>
                    <a:pt x="4169251" y="27844"/>
                  </a:lnTo>
                  <a:lnTo>
                    <a:pt x="4139017" y="7469"/>
                  </a:lnTo>
                  <a:lnTo>
                    <a:pt x="4101973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216651" y="3497580"/>
              <a:ext cx="4197350" cy="1701164"/>
            </a:xfrm>
            <a:custGeom>
              <a:avLst/>
              <a:gdLst/>
              <a:ahLst/>
              <a:cxnLst/>
              <a:rect l="l" t="t" r="r" b="b"/>
              <a:pathLst>
                <a:path w="4197350" h="1701164">
                  <a:moveTo>
                    <a:pt x="0" y="95123"/>
                  </a:moveTo>
                  <a:lnTo>
                    <a:pt x="7469" y="58078"/>
                  </a:lnTo>
                  <a:lnTo>
                    <a:pt x="27844" y="27844"/>
                  </a:lnTo>
                  <a:lnTo>
                    <a:pt x="58078" y="7469"/>
                  </a:lnTo>
                  <a:lnTo>
                    <a:pt x="95123" y="0"/>
                  </a:lnTo>
                  <a:lnTo>
                    <a:pt x="4101973" y="0"/>
                  </a:lnTo>
                  <a:lnTo>
                    <a:pt x="4139017" y="7469"/>
                  </a:lnTo>
                  <a:lnTo>
                    <a:pt x="4169251" y="27844"/>
                  </a:lnTo>
                  <a:lnTo>
                    <a:pt x="4189626" y="58078"/>
                  </a:lnTo>
                  <a:lnTo>
                    <a:pt x="4197096" y="95123"/>
                  </a:lnTo>
                  <a:lnTo>
                    <a:pt x="4197096" y="1605661"/>
                  </a:lnTo>
                  <a:lnTo>
                    <a:pt x="4189626" y="1642705"/>
                  </a:lnTo>
                  <a:lnTo>
                    <a:pt x="4169251" y="1672939"/>
                  </a:lnTo>
                  <a:lnTo>
                    <a:pt x="4139017" y="1693314"/>
                  </a:lnTo>
                  <a:lnTo>
                    <a:pt x="4101973" y="1700784"/>
                  </a:lnTo>
                  <a:lnTo>
                    <a:pt x="95123" y="1700784"/>
                  </a:lnTo>
                  <a:lnTo>
                    <a:pt x="58078" y="1693314"/>
                  </a:lnTo>
                  <a:lnTo>
                    <a:pt x="27844" y="1672939"/>
                  </a:lnTo>
                  <a:lnTo>
                    <a:pt x="7469" y="1642705"/>
                  </a:lnTo>
                  <a:lnTo>
                    <a:pt x="0" y="1605661"/>
                  </a:lnTo>
                  <a:lnTo>
                    <a:pt x="0" y="95123"/>
                  </a:lnTo>
                  <a:close/>
                </a:path>
              </a:pathLst>
            </a:custGeom>
            <a:ln w="9143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5440426" y="3702176"/>
            <a:ext cx="2981960" cy="1242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DFD5DE"/>
                </a:solidFill>
                <a:latin typeface="Arial"/>
                <a:cs typeface="Arial"/>
              </a:rPr>
              <a:t>High</a:t>
            </a:r>
            <a:r>
              <a:rPr dirty="0" sz="2300" spc="-90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Impact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750" spc="-60">
                <a:solidFill>
                  <a:srgbClr val="DFD5DE"/>
                </a:solidFill>
                <a:latin typeface="Verdana"/>
                <a:cs typeface="Verdana"/>
              </a:rPr>
              <a:t>Empowering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individuals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and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fostering</a:t>
            </a:r>
            <a:r>
              <a:rPr dirty="0" sz="1750" spc="-9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economic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growth.</a:t>
            </a:r>
            <a:endParaRPr sz="17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9637776" y="3493008"/>
            <a:ext cx="4201795" cy="1710055"/>
            <a:chOff x="9637776" y="3493008"/>
            <a:chExt cx="4201795" cy="1710055"/>
          </a:xfrm>
        </p:grpSpPr>
        <p:sp>
          <p:nvSpPr>
            <p:cNvPr id="12" name="object 12" descr=""/>
            <p:cNvSpPr/>
            <p:nvPr/>
          </p:nvSpPr>
          <p:spPr>
            <a:xfrm>
              <a:off x="9642348" y="3497580"/>
              <a:ext cx="4192904" cy="1701164"/>
            </a:xfrm>
            <a:custGeom>
              <a:avLst/>
              <a:gdLst/>
              <a:ahLst/>
              <a:cxnLst/>
              <a:rect l="l" t="t" r="r" b="b"/>
              <a:pathLst>
                <a:path w="4192905" h="1701164">
                  <a:moveTo>
                    <a:pt x="4097400" y="0"/>
                  </a:moveTo>
                  <a:lnTo>
                    <a:pt x="95123" y="0"/>
                  </a:lnTo>
                  <a:lnTo>
                    <a:pt x="58078" y="7469"/>
                  </a:lnTo>
                  <a:lnTo>
                    <a:pt x="27844" y="27844"/>
                  </a:lnTo>
                  <a:lnTo>
                    <a:pt x="7469" y="58078"/>
                  </a:lnTo>
                  <a:lnTo>
                    <a:pt x="0" y="95123"/>
                  </a:lnTo>
                  <a:lnTo>
                    <a:pt x="0" y="1605661"/>
                  </a:lnTo>
                  <a:lnTo>
                    <a:pt x="7469" y="1642705"/>
                  </a:lnTo>
                  <a:lnTo>
                    <a:pt x="27844" y="1672939"/>
                  </a:lnTo>
                  <a:lnTo>
                    <a:pt x="58078" y="1693314"/>
                  </a:lnTo>
                  <a:lnTo>
                    <a:pt x="95123" y="1700784"/>
                  </a:lnTo>
                  <a:lnTo>
                    <a:pt x="4097400" y="1700784"/>
                  </a:lnTo>
                  <a:lnTo>
                    <a:pt x="4134445" y="1693314"/>
                  </a:lnTo>
                  <a:lnTo>
                    <a:pt x="4164679" y="1672939"/>
                  </a:lnTo>
                  <a:lnTo>
                    <a:pt x="4185054" y="1642705"/>
                  </a:lnTo>
                  <a:lnTo>
                    <a:pt x="4192523" y="1605661"/>
                  </a:lnTo>
                  <a:lnTo>
                    <a:pt x="4192523" y="95123"/>
                  </a:lnTo>
                  <a:lnTo>
                    <a:pt x="4185054" y="58078"/>
                  </a:lnTo>
                  <a:lnTo>
                    <a:pt x="4164679" y="27844"/>
                  </a:lnTo>
                  <a:lnTo>
                    <a:pt x="4134445" y="7469"/>
                  </a:lnTo>
                  <a:lnTo>
                    <a:pt x="4097400" y="0"/>
                  </a:lnTo>
                  <a:close/>
                </a:path>
              </a:pathLst>
            </a:custGeom>
            <a:solidFill>
              <a:srgbClr val="2E1D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642348" y="3497580"/>
              <a:ext cx="4192904" cy="1701164"/>
            </a:xfrm>
            <a:custGeom>
              <a:avLst/>
              <a:gdLst/>
              <a:ahLst/>
              <a:cxnLst/>
              <a:rect l="l" t="t" r="r" b="b"/>
              <a:pathLst>
                <a:path w="4192905" h="1701164">
                  <a:moveTo>
                    <a:pt x="0" y="95123"/>
                  </a:moveTo>
                  <a:lnTo>
                    <a:pt x="7469" y="58078"/>
                  </a:lnTo>
                  <a:lnTo>
                    <a:pt x="27844" y="27844"/>
                  </a:lnTo>
                  <a:lnTo>
                    <a:pt x="58078" y="7469"/>
                  </a:lnTo>
                  <a:lnTo>
                    <a:pt x="95123" y="0"/>
                  </a:lnTo>
                  <a:lnTo>
                    <a:pt x="4097400" y="0"/>
                  </a:lnTo>
                  <a:lnTo>
                    <a:pt x="4134445" y="7469"/>
                  </a:lnTo>
                  <a:lnTo>
                    <a:pt x="4164679" y="27844"/>
                  </a:lnTo>
                  <a:lnTo>
                    <a:pt x="4185054" y="58078"/>
                  </a:lnTo>
                  <a:lnTo>
                    <a:pt x="4192523" y="95123"/>
                  </a:lnTo>
                  <a:lnTo>
                    <a:pt x="4192523" y="1605661"/>
                  </a:lnTo>
                  <a:lnTo>
                    <a:pt x="4185054" y="1642705"/>
                  </a:lnTo>
                  <a:lnTo>
                    <a:pt x="4164679" y="1672939"/>
                  </a:lnTo>
                  <a:lnTo>
                    <a:pt x="4134445" y="1693314"/>
                  </a:lnTo>
                  <a:lnTo>
                    <a:pt x="4097400" y="1700784"/>
                  </a:lnTo>
                  <a:lnTo>
                    <a:pt x="95123" y="1700784"/>
                  </a:lnTo>
                  <a:lnTo>
                    <a:pt x="58078" y="1693314"/>
                  </a:lnTo>
                  <a:lnTo>
                    <a:pt x="27844" y="1672939"/>
                  </a:lnTo>
                  <a:lnTo>
                    <a:pt x="7469" y="1642705"/>
                  </a:lnTo>
                  <a:lnTo>
                    <a:pt x="0" y="1605661"/>
                  </a:lnTo>
                  <a:lnTo>
                    <a:pt x="0" y="95123"/>
                  </a:lnTo>
                  <a:close/>
                </a:path>
              </a:pathLst>
            </a:custGeom>
            <a:ln w="9144">
              <a:solidFill>
                <a:srgbClr val="47367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864979" y="3702176"/>
            <a:ext cx="3021965" cy="1242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300" spc="-40" b="1">
                <a:solidFill>
                  <a:srgbClr val="DFD5DE"/>
                </a:solidFill>
                <a:latin typeface="Arial"/>
                <a:cs typeface="Arial"/>
              </a:rPr>
              <a:t>Scalable</a:t>
            </a:r>
            <a:r>
              <a:rPr dirty="0" sz="2300" spc="2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DFD5DE"/>
                </a:solidFill>
                <a:latin typeface="Arial"/>
                <a:cs typeface="Arial"/>
              </a:rPr>
              <a:t>&amp;</a:t>
            </a:r>
            <a:r>
              <a:rPr dirty="0" sz="2300" spc="-95" b="1">
                <a:solidFill>
                  <a:srgbClr val="DFD5DE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DFD5DE"/>
                </a:solidFill>
                <a:latin typeface="Arial"/>
                <a:cs typeface="Arial"/>
              </a:rPr>
              <a:t>Feasible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1750" spc="-55">
                <a:solidFill>
                  <a:srgbClr val="DFD5DE"/>
                </a:solidFill>
                <a:latin typeface="Verdana"/>
                <a:cs typeface="Verdana"/>
              </a:rPr>
              <a:t>Robust</a:t>
            </a:r>
            <a:r>
              <a:rPr dirty="0" sz="1750" spc="-14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0">
                <a:solidFill>
                  <a:srgbClr val="DFD5DE"/>
                </a:solidFill>
                <a:latin typeface="Verdana"/>
                <a:cs typeface="Verdana"/>
              </a:rPr>
              <a:t>technology</a:t>
            </a:r>
            <a:r>
              <a:rPr dirty="0" sz="1750" spc="-12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50">
                <a:solidFill>
                  <a:srgbClr val="DFD5DE"/>
                </a:solidFill>
                <a:latin typeface="Verdana"/>
                <a:cs typeface="Verdana"/>
              </a:rPr>
              <a:t>ready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for</a:t>
            </a:r>
            <a:endParaRPr sz="17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750" spc="-30">
                <a:solidFill>
                  <a:srgbClr val="DFD5DE"/>
                </a:solidFill>
                <a:latin typeface="Verdana"/>
                <a:cs typeface="Verdana"/>
              </a:rPr>
              <a:t>widespread</a:t>
            </a:r>
            <a:r>
              <a:rPr dirty="0" sz="1750" spc="-165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10">
                <a:solidFill>
                  <a:srgbClr val="DFD5DE"/>
                </a:solidFill>
                <a:latin typeface="Verdana"/>
                <a:cs typeface="Verdana"/>
              </a:rPr>
              <a:t>adoption.</a:t>
            </a:r>
            <a:endParaRPr sz="17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537075" y="5494731"/>
            <a:ext cx="5553075" cy="2946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Join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us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65">
                <a:solidFill>
                  <a:srgbClr val="DFD5DE"/>
                </a:solidFill>
                <a:latin typeface="Verdana"/>
                <a:cs typeface="Verdana"/>
              </a:rPr>
              <a:t>in</a:t>
            </a:r>
            <a:r>
              <a:rPr dirty="0" sz="1750" spc="-12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45">
                <a:solidFill>
                  <a:srgbClr val="DFD5DE"/>
                </a:solidFill>
                <a:latin typeface="Verdana"/>
                <a:cs typeface="Verdana"/>
              </a:rPr>
              <a:t>shaping</a:t>
            </a:r>
            <a:r>
              <a:rPr dirty="0" sz="1750" spc="-16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the</a:t>
            </a:r>
            <a:r>
              <a:rPr dirty="0" sz="1750" spc="-114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70">
                <a:solidFill>
                  <a:srgbClr val="DFD5DE"/>
                </a:solidFill>
                <a:latin typeface="Verdana"/>
                <a:cs typeface="Verdana"/>
              </a:rPr>
              <a:t>future</a:t>
            </a:r>
            <a:r>
              <a:rPr dirty="0" sz="1750" spc="-11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>
                <a:solidFill>
                  <a:srgbClr val="DFD5DE"/>
                </a:solidFill>
                <a:latin typeface="Verdana"/>
                <a:cs typeface="Verdana"/>
              </a:rPr>
              <a:t>of</a:t>
            </a:r>
            <a:r>
              <a:rPr dirty="0" sz="1750" spc="-9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35">
                <a:solidFill>
                  <a:srgbClr val="DFD5DE"/>
                </a:solidFill>
                <a:latin typeface="Verdana"/>
                <a:cs typeface="Verdana"/>
              </a:rPr>
              <a:t>career</a:t>
            </a:r>
            <a:r>
              <a:rPr dirty="0" sz="1750" spc="-180">
                <a:solidFill>
                  <a:srgbClr val="DFD5DE"/>
                </a:solidFill>
                <a:latin typeface="Verdana"/>
                <a:cs typeface="Verdana"/>
              </a:rPr>
              <a:t> </a:t>
            </a:r>
            <a:r>
              <a:rPr dirty="0" sz="1750" spc="-25">
                <a:solidFill>
                  <a:srgbClr val="DFD5DE"/>
                </a:solidFill>
                <a:latin typeface="Verdana"/>
                <a:cs typeface="Verdana"/>
              </a:rPr>
              <a:t>development.</a:t>
            </a:r>
            <a:endParaRPr sz="1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2025-06-27T17:03:19Z</dcterms:created>
  <dcterms:modified xsi:type="dcterms:W3CDTF">2025-06-27T17:03:19Z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2025-06-27T00:00:00Z</vt:filetime>
  </property>
  <property fmtid="{D5CDD505-2E9C-101B-9397-08002B2CF9AE}" pid="5" name="Producer">
    <vt:lpwstr>www.ilovepdf.com</vt:lpwstr>
  </property>
</Properties>
</file>